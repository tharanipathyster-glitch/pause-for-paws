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7" d="100"/>
          <a:sy n="107" d="100"/>
        </p:scale>
        <p:origin x="636"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397266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Hi, we're [Team Name], and our project is called Pause for Paws. It's about helping drivers share the road safely with wildlife.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isn't just an Iowa problem. Across the whole country, State Farm estimates over 1.7 million animal-collision insurance claims a year, and federal safety research estimates about 200 deaths and over 10 billion dollars in costs every year. That told us this was worth solving at scale, not just locally.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We picked Iowa to start because it's our home state, and it turns out Iowa is already one of the top 10 riskiest states in the country for this. We used real Iowa DOT crash data — not made-up numbers. Over seven thousand crashes involved animals. Most were just damage to a car, but 128 people got hurt and 5 people died.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BIOGLOW is about connecting nature and infrastructure. Pause for Paws does exactly that — it takes a wildlife safety problem and solves it using road and map infrastructure that already exists.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As a team we came up with six ideas. We talked about which ones matched BIOGLOW, which ones we could actually build in the time we had, and which ones felt most important. We voted, and Pause for Paws won.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Here is the actual logic our program runs. First it groups crashes that happened close together into a corridor. Then it scores how risky that corridor is based on how many crashes happened there. Finally, it shows a calm, honest message — it never claims to know an animal is on the road right now, just that this spot has a history.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is a real, working prototype, not just a slideshow idea. It runs on a Python server we built, using Google Maps to show the corridors, and now uses real Iowa crash data instead of practice data.</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We thought hard about this — why would a driver ever open our app? They wouldn't. So instead of competing with Waze, Google Maps, and Apple Maps, our real plan is to publish our data INTO Waze, so drivers see the alert inside the app they already trust and already have open.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 judge might ask, "how do you know an animal is really there?" The honest answer is: we don't, from history alone. That's why we're careful to only describe a pattern, never a live promise — and we practiced answering exactly this kind of question.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isn't finished — it's a real pilot in progress. This week we're submitting our Waze application and reaching out to Iowa DOT and Waukee. Long term, this same idea could even help power road signs, not just apps.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Thank you for listening! We're happy to answer any questions about our data, our design choices, or our plan to work with Waze.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331F"/>
        </a:solidFill>
        <a:effectLst/>
      </p:bgPr>
    </p:bg>
    <p:spTree>
      <p:nvGrpSpPr>
        <p:cNvPr id="1" name=""/>
        <p:cNvGrpSpPr/>
        <p:nvPr/>
      </p:nvGrpSpPr>
      <p:grpSpPr>
        <a:xfrm>
          <a:off x="0" y="0"/>
          <a:ext cx="0" cy="0"/>
          <a:chOff x="0" y="0"/>
          <a:chExt cx="0" cy="0"/>
        </a:xfrm>
      </p:grpSpPr>
      <p:sp>
        <p:nvSpPr>
          <p:cNvPr id="2" name="Shape 0"/>
          <p:cNvSpPr/>
          <p:nvPr/>
        </p:nvSpPr>
        <p:spPr>
          <a:xfrm>
            <a:off x="822960" y="777240"/>
            <a:ext cx="914400" cy="914400"/>
          </a:xfrm>
          <a:prstGeom prst="ellipse">
            <a:avLst/>
          </a:prstGeom>
          <a:solidFill>
            <a:srgbClr val="E8A33D"/>
          </a:solidFill>
          <a:ln/>
          <a:effectLst>
            <a:outerShdw blurRad="101600" dist="38100" dir="5400000" algn="bl" rotWithShape="0">
              <a:srgbClr val="000000">
                <a:alpha val="18000"/>
              </a:srgbClr>
            </a:outerShdw>
          </a:effectLst>
        </p:spPr>
        <p:txBody>
          <a:bodyPr/>
          <a:lstStyle/>
          <a:p>
            <a:endParaRPr lang="en-US"/>
          </a:p>
        </p:txBody>
      </p:sp>
      <p:pic>
        <p:nvPicPr>
          <p:cNvPr id="3" name="Image 0" descr="preencoded.png"/>
          <p:cNvPicPr>
            <a:picLocks noChangeAspect="1"/>
          </p:cNvPicPr>
          <p:nvPr/>
        </p:nvPicPr>
        <p:blipFill>
          <a:blip r:embed="rId3"/>
          <a:stretch>
            <a:fillRect/>
          </a:stretch>
        </p:blipFill>
        <p:spPr>
          <a:xfrm>
            <a:off x="941832" y="896112"/>
            <a:ext cx="676656" cy="676656"/>
          </a:xfrm>
          <a:prstGeom prst="rect">
            <a:avLst/>
          </a:prstGeom>
        </p:spPr>
      </p:pic>
      <p:sp>
        <p:nvSpPr>
          <p:cNvPr id="4" name="Text 1"/>
          <p:cNvSpPr txBox="1"/>
          <p:nvPr/>
        </p:nvSpPr>
        <p:spPr>
          <a:xfrm>
            <a:off x="640080" y="2377440"/>
            <a:ext cx="9601200" cy="1188720"/>
          </a:xfrm>
          <a:prstGeom prst="rect">
            <a:avLst/>
          </a:prstGeom>
          <a:noFill/>
          <a:ln/>
        </p:spPr>
        <p:txBody>
          <a:bodyPr wrap="square" lIns="0" tIns="0" rIns="0" bIns="0" rtlCol="0" anchor="ctr"/>
          <a:lstStyle/>
          <a:p>
            <a:pPr marL="0" indent="0">
              <a:buNone/>
            </a:pPr>
            <a:r>
              <a:rPr lang="en-US" sz="5400" b="1" dirty="0">
                <a:solidFill>
                  <a:srgbClr val="FFFFFF"/>
                </a:solidFill>
                <a:latin typeface="Cambria" pitchFamily="34" charset="0"/>
                <a:ea typeface="Cambria" pitchFamily="34" charset="-122"/>
                <a:cs typeface="Cambria" pitchFamily="34" charset="-120"/>
              </a:rPr>
              <a:t>Pause for Paws</a:t>
            </a:r>
            <a:endParaRPr lang="en-US" sz="5400" dirty="0"/>
          </a:p>
        </p:txBody>
      </p:sp>
      <p:sp>
        <p:nvSpPr>
          <p:cNvPr id="5" name="Text 2"/>
          <p:cNvSpPr txBox="1"/>
          <p:nvPr/>
        </p:nvSpPr>
        <p:spPr>
          <a:xfrm>
            <a:off x="685800" y="3429000"/>
            <a:ext cx="9144000" cy="548640"/>
          </a:xfrm>
          <a:prstGeom prst="rect">
            <a:avLst/>
          </a:prstGeom>
          <a:noFill/>
          <a:ln/>
        </p:spPr>
        <p:txBody>
          <a:bodyPr wrap="square" lIns="0" tIns="0" rIns="0" bIns="0" rtlCol="0" anchor="ctr"/>
          <a:lstStyle/>
          <a:p>
            <a:pPr marL="0" indent="0">
              <a:buNone/>
            </a:pPr>
            <a:r>
              <a:rPr lang="en-US" sz="2000" i="1" dirty="0">
                <a:solidFill>
                  <a:srgbClr val="D9E6CC"/>
                </a:solidFill>
                <a:latin typeface="Calibri" pitchFamily="34" charset="0"/>
                <a:ea typeface="Calibri" pitchFamily="34" charset="-122"/>
                <a:cs typeface="Calibri" pitchFamily="34" charset="-120"/>
              </a:rPr>
              <a:t>Helping drivers share the road with wildlife — across the US, starting in Iowa</a:t>
            </a:r>
            <a:endParaRPr lang="en-US" sz="2000" dirty="0"/>
          </a:p>
        </p:txBody>
      </p:sp>
      <p:sp>
        <p:nvSpPr>
          <p:cNvPr id="6" name="Shape 3"/>
          <p:cNvSpPr/>
          <p:nvPr/>
        </p:nvSpPr>
        <p:spPr>
          <a:xfrm>
            <a:off x="685800" y="4160520"/>
            <a:ext cx="2926080" cy="0"/>
          </a:xfrm>
          <a:prstGeom prst="line">
            <a:avLst/>
          </a:prstGeom>
          <a:noFill/>
          <a:ln w="25400">
            <a:solidFill>
              <a:srgbClr val="E8A33D"/>
            </a:solidFill>
            <a:prstDash val="solid"/>
          </a:ln>
        </p:spPr>
        <p:txBody>
          <a:bodyPr/>
          <a:lstStyle/>
          <a:p>
            <a:endParaRPr lang="en-US"/>
          </a:p>
        </p:txBody>
      </p:sp>
      <p:sp>
        <p:nvSpPr>
          <p:cNvPr id="7" name="Text 4"/>
          <p:cNvSpPr txBox="1"/>
          <p:nvPr/>
        </p:nvSpPr>
        <p:spPr>
          <a:xfrm>
            <a:off x="685800" y="4343400"/>
            <a:ext cx="8229600" cy="365760"/>
          </a:xfrm>
          <a:prstGeom prst="rect">
            <a:avLst/>
          </a:prstGeom>
          <a:noFill/>
          <a:ln/>
        </p:spPr>
        <p:txBody>
          <a:bodyPr wrap="square" lIns="0" tIns="0" rIns="0" bIns="0" rtlCol="0" anchor="ctr"/>
          <a:lstStyle/>
          <a:p>
            <a:pPr marL="0" indent="0">
              <a:buNone/>
            </a:pPr>
            <a:r>
              <a:rPr lang="en-US" sz="1400" dirty="0">
                <a:solidFill>
                  <a:srgbClr val="8FAE72"/>
                </a:solidFill>
                <a:latin typeface="Calibri" pitchFamily="34" charset="0"/>
                <a:ea typeface="Calibri" pitchFamily="34" charset="-122"/>
                <a:cs typeface="Calibri" pitchFamily="34" charset="-120"/>
              </a:rPr>
              <a:t>BIOGLOW Season · FIRST LEGO League Innovation Project</a:t>
            </a:r>
            <a:endParaRPr lang="en-US" sz="1400" dirty="0"/>
          </a:p>
        </p:txBody>
      </p:sp>
      <p:sp>
        <p:nvSpPr>
          <p:cNvPr id="8" name="Text 5"/>
          <p:cNvSpPr txBox="1"/>
          <p:nvPr/>
        </p:nvSpPr>
        <p:spPr>
          <a:xfrm>
            <a:off x="685800" y="6035040"/>
            <a:ext cx="8229600" cy="365760"/>
          </a:xfrm>
          <a:prstGeom prst="rect">
            <a:avLst/>
          </a:prstGeom>
          <a:noFill/>
          <a:ln/>
        </p:spPr>
        <p:txBody>
          <a:bodyPr wrap="square" lIns="0" tIns="0" rIns="0" bIns="0" rtlCol="0" anchor="ctr"/>
          <a:lstStyle/>
          <a:p>
            <a:pPr marL="0" indent="0">
              <a:buNone/>
            </a:pPr>
            <a:r>
              <a:rPr lang="en-US" sz="1300" dirty="0">
                <a:solidFill>
                  <a:srgbClr val="B9C9B4"/>
                </a:solidFill>
                <a:latin typeface="Calibri" pitchFamily="34" charset="0"/>
                <a:ea typeface="Calibri" pitchFamily="34" charset="-122"/>
                <a:cs typeface="Calibri" pitchFamily="34" charset="-120"/>
              </a:rPr>
              <a:t>[Team Name] · Grade 6 · Waukee, Iowa</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7315200" cy="365760"/>
          </a:xfrm>
          <a:prstGeom prst="rect">
            <a:avLst/>
          </a:prstGeom>
          <a:noFill/>
          <a:ln/>
        </p:spPr>
        <p:txBody>
          <a:bodyPr wrap="square" lIns="0" tIns="0" rIns="0" bIns="0" rtlCol="0" anchor="ctr"/>
          <a:lstStyle/>
          <a:p>
            <a:pPr marL="0" indent="0">
              <a:buNone/>
            </a:pPr>
            <a:r>
              <a:rPr lang="en-US" sz="1300" b="1" kern="0" spc="200" dirty="0">
                <a:solidFill>
                  <a:srgbClr val="B9781E"/>
                </a:solidFill>
                <a:latin typeface="Calibri" pitchFamily="34" charset="0"/>
                <a:ea typeface="Calibri" pitchFamily="34" charset="-122"/>
                <a:cs typeface="Calibri" pitchFamily="34" charset="-120"/>
              </a:rPr>
              <a:t>THE PROBLEM</a:t>
            </a:r>
            <a:endParaRPr lang="en-US" sz="1300" dirty="0"/>
          </a:p>
        </p:txBody>
      </p:sp>
      <p:sp>
        <p:nvSpPr>
          <p:cNvPr id="3" name="Text 1"/>
          <p:cNvSpPr txBox="1"/>
          <p:nvPr/>
        </p:nvSpPr>
        <p:spPr>
          <a:xfrm>
            <a:off x="640080" y="868680"/>
            <a:ext cx="10515600" cy="822960"/>
          </a:xfrm>
          <a:prstGeom prst="rect">
            <a:avLst/>
          </a:prstGeom>
          <a:noFill/>
          <a:ln/>
        </p:spPr>
        <p:txBody>
          <a:bodyPr wrap="square" lIns="0" tIns="0" rIns="0" bIns="0" rtlCol="0" anchor="ctr"/>
          <a:lstStyle/>
          <a:p>
            <a:pPr marL="0" indent="0">
              <a:buNone/>
            </a:pPr>
            <a:r>
              <a:rPr lang="en-US" sz="3000" b="1" dirty="0">
                <a:solidFill>
                  <a:srgbClr val="1E2A20"/>
                </a:solidFill>
                <a:latin typeface="Cambria" pitchFamily="34" charset="0"/>
                <a:ea typeface="Cambria" pitchFamily="34" charset="-122"/>
                <a:cs typeface="Cambria" pitchFamily="34" charset="-120"/>
              </a:rPr>
              <a:t>It’s not just Iowa. It’s the whole country.</a:t>
            </a:r>
            <a:endParaRPr lang="en-US" sz="3000" dirty="0"/>
          </a:p>
        </p:txBody>
      </p:sp>
      <p:sp>
        <p:nvSpPr>
          <p:cNvPr id="4" name="Text 2"/>
          <p:cNvSpPr txBox="1"/>
          <p:nvPr/>
        </p:nvSpPr>
        <p:spPr>
          <a:xfrm>
            <a:off x="640080" y="1691640"/>
            <a:ext cx="6675120" cy="1005840"/>
          </a:xfrm>
          <a:prstGeom prst="rect">
            <a:avLst/>
          </a:prstGeom>
          <a:noFill/>
          <a:ln/>
        </p:spPr>
        <p:txBody>
          <a:bodyPr wrap="square" lIns="0" tIns="0" rIns="0" bIns="0" rtlCol="0" anchor="ctr"/>
          <a:lstStyle/>
          <a:p>
            <a:pPr marL="0" indent="0">
              <a:buNone/>
            </a:pPr>
            <a:r>
              <a:rPr lang="en-US" sz="1450" dirty="0">
                <a:solidFill>
                  <a:srgbClr val="4B5A4C"/>
                </a:solidFill>
                <a:latin typeface="Calibri" pitchFamily="34" charset="0"/>
                <a:ea typeface="Calibri" pitchFamily="34" charset="-122"/>
                <a:cs typeface="Calibri" pitchFamily="34" charset="-120"/>
              </a:rPr>
              <a:t>Wildlife-vehicle collisions happen on almost every road in America. Looking at the most recent nationwide data (State Farm insurance claims, July 2024–June 2025; federal safety research):</a:t>
            </a:r>
            <a:endParaRPr lang="en-US" sz="1450" dirty="0"/>
          </a:p>
        </p:txBody>
      </p:sp>
      <p:sp>
        <p:nvSpPr>
          <p:cNvPr id="5" name="Shape 3"/>
          <p:cNvSpPr/>
          <p:nvPr/>
        </p:nvSpPr>
        <p:spPr>
          <a:xfrm>
            <a:off x="640080" y="2880360"/>
            <a:ext cx="2331720" cy="1554480"/>
          </a:xfrm>
          <a:prstGeom prst="roundRect">
            <a:avLst>
              <a:gd name="adj" fmla="val 7059"/>
            </a:avLst>
          </a:prstGeom>
          <a:solidFill>
            <a:srgbClr val="EEF3EA"/>
          </a:solidFill>
          <a:ln/>
          <a:effectLst>
            <a:outerShdw blurRad="101600" dist="38100" dir="5400000" algn="bl" rotWithShape="0">
              <a:srgbClr val="000000">
                <a:alpha val="18000"/>
              </a:srgbClr>
            </a:outerShdw>
          </a:effectLst>
        </p:spPr>
        <p:txBody>
          <a:bodyPr/>
          <a:lstStyle/>
          <a:p>
            <a:endParaRPr lang="en-US"/>
          </a:p>
        </p:txBody>
      </p:sp>
      <p:sp>
        <p:nvSpPr>
          <p:cNvPr id="6" name="Text 4"/>
          <p:cNvSpPr txBox="1"/>
          <p:nvPr/>
        </p:nvSpPr>
        <p:spPr>
          <a:xfrm>
            <a:off x="777240" y="3017520"/>
            <a:ext cx="2057400" cy="932688"/>
          </a:xfrm>
          <a:prstGeom prst="rect">
            <a:avLst/>
          </a:prstGeom>
          <a:noFill/>
          <a:ln/>
        </p:spPr>
        <p:txBody>
          <a:bodyPr wrap="square" lIns="0" tIns="0" rIns="0" bIns="0" rtlCol="0" anchor="b"/>
          <a:lstStyle/>
          <a:p>
            <a:pPr marL="0" indent="0" algn="ctr">
              <a:buNone/>
            </a:pPr>
            <a:r>
              <a:rPr lang="en-US" sz="3400" b="1" dirty="0">
                <a:solidFill>
                  <a:srgbClr val="2C5F2D"/>
                </a:solidFill>
                <a:latin typeface="Cambria" pitchFamily="34" charset="0"/>
                <a:ea typeface="Cambria" pitchFamily="34" charset="-122"/>
                <a:cs typeface="Cambria" pitchFamily="34" charset="-120"/>
              </a:rPr>
              <a:t>1.7M+</a:t>
            </a:r>
            <a:endParaRPr lang="en-US" sz="3400" dirty="0"/>
          </a:p>
        </p:txBody>
      </p:sp>
      <p:sp>
        <p:nvSpPr>
          <p:cNvPr id="7" name="Text 5"/>
          <p:cNvSpPr txBox="1"/>
          <p:nvPr/>
        </p:nvSpPr>
        <p:spPr>
          <a:xfrm>
            <a:off x="777240" y="3844138"/>
            <a:ext cx="2057400" cy="528523"/>
          </a:xfrm>
          <a:prstGeom prst="rect">
            <a:avLst/>
          </a:prstGeom>
          <a:noFill/>
          <a:ln/>
        </p:spPr>
        <p:txBody>
          <a:bodyPr wrap="square" lIns="0" tIns="0" rIns="0" bIns="0" rtlCol="0" anchor="t"/>
          <a:lstStyle/>
          <a:p>
            <a:pPr marL="0" indent="0" algn="ctr">
              <a:buNone/>
            </a:pPr>
            <a:r>
              <a:rPr lang="en-US" sz="1200" dirty="0">
                <a:solidFill>
                  <a:srgbClr val="4B5A4C"/>
                </a:solidFill>
                <a:latin typeface="Calibri" pitchFamily="34" charset="0"/>
                <a:ea typeface="Calibri" pitchFamily="34" charset="-122"/>
                <a:cs typeface="Calibri" pitchFamily="34" charset="-120"/>
              </a:rPr>
              <a:t>animal-collision claims, nationwide</a:t>
            </a:r>
            <a:endParaRPr lang="en-US" sz="1200" dirty="0"/>
          </a:p>
        </p:txBody>
      </p:sp>
      <p:sp>
        <p:nvSpPr>
          <p:cNvPr id="8" name="Shape 6"/>
          <p:cNvSpPr/>
          <p:nvPr/>
        </p:nvSpPr>
        <p:spPr>
          <a:xfrm>
            <a:off x="3154680" y="2880360"/>
            <a:ext cx="2331720" cy="1554480"/>
          </a:xfrm>
          <a:prstGeom prst="roundRect">
            <a:avLst>
              <a:gd name="adj" fmla="val 7059"/>
            </a:avLst>
          </a:prstGeom>
          <a:solidFill>
            <a:srgbClr val="EEF3EA"/>
          </a:solidFill>
          <a:ln/>
          <a:effectLst>
            <a:outerShdw blurRad="101600" dist="38100" dir="5400000" algn="bl" rotWithShape="0">
              <a:srgbClr val="000000">
                <a:alpha val="18000"/>
              </a:srgbClr>
            </a:outerShdw>
          </a:effectLst>
        </p:spPr>
        <p:txBody>
          <a:bodyPr/>
          <a:lstStyle/>
          <a:p>
            <a:endParaRPr lang="en-US"/>
          </a:p>
        </p:txBody>
      </p:sp>
      <p:sp>
        <p:nvSpPr>
          <p:cNvPr id="9" name="Text 7"/>
          <p:cNvSpPr txBox="1"/>
          <p:nvPr/>
        </p:nvSpPr>
        <p:spPr>
          <a:xfrm>
            <a:off x="3291840" y="3017520"/>
            <a:ext cx="2057400" cy="932688"/>
          </a:xfrm>
          <a:prstGeom prst="rect">
            <a:avLst/>
          </a:prstGeom>
          <a:noFill/>
          <a:ln/>
        </p:spPr>
        <p:txBody>
          <a:bodyPr wrap="square" lIns="0" tIns="0" rIns="0" bIns="0" rtlCol="0" anchor="b"/>
          <a:lstStyle/>
          <a:p>
            <a:pPr marL="0" indent="0" algn="ctr">
              <a:buNone/>
            </a:pPr>
            <a:r>
              <a:rPr lang="en-US" sz="3400" b="1" dirty="0">
                <a:solidFill>
                  <a:srgbClr val="B9781E"/>
                </a:solidFill>
                <a:latin typeface="Cambria" pitchFamily="34" charset="0"/>
                <a:ea typeface="Cambria" pitchFamily="34" charset="-122"/>
                <a:cs typeface="Cambria" pitchFamily="34" charset="-120"/>
              </a:rPr>
              <a:t>~200</a:t>
            </a:r>
            <a:endParaRPr lang="en-US" sz="3400" dirty="0"/>
          </a:p>
        </p:txBody>
      </p:sp>
      <p:sp>
        <p:nvSpPr>
          <p:cNvPr id="10" name="Text 8"/>
          <p:cNvSpPr txBox="1"/>
          <p:nvPr/>
        </p:nvSpPr>
        <p:spPr>
          <a:xfrm>
            <a:off x="3291840" y="3844138"/>
            <a:ext cx="2057400" cy="528523"/>
          </a:xfrm>
          <a:prstGeom prst="rect">
            <a:avLst/>
          </a:prstGeom>
          <a:noFill/>
          <a:ln/>
        </p:spPr>
        <p:txBody>
          <a:bodyPr wrap="square" lIns="0" tIns="0" rIns="0" bIns="0" rtlCol="0" anchor="t"/>
          <a:lstStyle/>
          <a:p>
            <a:pPr marL="0" indent="0" algn="ctr">
              <a:buNone/>
            </a:pPr>
            <a:r>
              <a:rPr lang="en-US" sz="1200" dirty="0">
                <a:solidFill>
                  <a:srgbClr val="4B5A4C"/>
                </a:solidFill>
                <a:latin typeface="Calibri" pitchFamily="34" charset="0"/>
                <a:ea typeface="Calibri" pitchFamily="34" charset="-122"/>
                <a:cs typeface="Calibri" pitchFamily="34" charset="-120"/>
              </a:rPr>
              <a:t>people killed every year</a:t>
            </a:r>
            <a:endParaRPr lang="en-US" sz="1200" dirty="0"/>
          </a:p>
        </p:txBody>
      </p:sp>
      <p:sp>
        <p:nvSpPr>
          <p:cNvPr id="11" name="Shape 9"/>
          <p:cNvSpPr/>
          <p:nvPr/>
        </p:nvSpPr>
        <p:spPr>
          <a:xfrm>
            <a:off x="5669280" y="2880360"/>
            <a:ext cx="2331720" cy="1554480"/>
          </a:xfrm>
          <a:prstGeom prst="roundRect">
            <a:avLst>
              <a:gd name="adj" fmla="val 7059"/>
            </a:avLst>
          </a:prstGeom>
          <a:solidFill>
            <a:srgbClr val="EEF3EA"/>
          </a:solidFill>
          <a:ln/>
          <a:effectLst>
            <a:outerShdw blurRad="101600" dist="38100" dir="5400000" algn="bl" rotWithShape="0">
              <a:srgbClr val="000000">
                <a:alpha val="18000"/>
              </a:srgbClr>
            </a:outerShdw>
          </a:effectLst>
        </p:spPr>
        <p:txBody>
          <a:bodyPr/>
          <a:lstStyle/>
          <a:p>
            <a:endParaRPr lang="en-US"/>
          </a:p>
        </p:txBody>
      </p:sp>
      <p:sp>
        <p:nvSpPr>
          <p:cNvPr id="12" name="Text 10"/>
          <p:cNvSpPr txBox="1"/>
          <p:nvPr/>
        </p:nvSpPr>
        <p:spPr>
          <a:xfrm>
            <a:off x="5806440" y="3017520"/>
            <a:ext cx="2057400" cy="932688"/>
          </a:xfrm>
          <a:prstGeom prst="rect">
            <a:avLst/>
          </a:prstGeom>
          <a:noFill/>
          <a:ln/>
        </p:spPr>
        <p:txBody>
          <a:bodyPr wrap="square" lIns="0" tIns="0" rIns="0" bIns="0" rtlCol="0" anchor="b"/>
          <a:lstStyle/>
          <a:p>
            <a:pPr marL="0" indent="0" algn="ctr">
              <a:buNone/>
            </a:pPr>
            <a:r>
              <a:rPr lang="en-US" sz="3400" b="1" dirty="0">
                <a:solidFill>
                  <a:srgbClr val="B23A2E"/>
                </a:solidFill>
                <a:latin typeface="Cambria" pitchFamily="34" charset="0"/>
                <a:ea typeface="Cambria" pitchFamily="34" charset="-122"/>
                <a:cs typeface="Cambria" pitchFamily="34" charset="-120"/>
              </a:rPr>
              <a:t>$10B+</a:t>
            </a:r>
            <a:endParaRPr lang="en-US" sz="3400" dirty="0"/>
          </a:p>
        </p:txBody>
      </p:sp>
      <p:sp>
        <p:nvSpPr>
          <p:cNvPr id="13" name="Text 11"/>
          <p:cNvSpPr txBox="1"/>
          <p:nvPr/>
        </p:nvSpPr>
        <p:spPr>
          <a:xfrm>
            <a:off x="5806440" y="3844138"/>
            <a:ext cx="2057400" cy="528523"/>
          </a:xfrm>
          <a:prstGeom prst="rect">
            <a:avLst/>
          </a:prstGeom>
          <a:noFill/>
          <a:ln/>
        </p:spPr>
        <p:txBody>
          <a:bodyPr wrap="square" lIns="0" tIns="0" rIns="0" bIns="0" rtlCol="0" anchor="t"/>
          <a:lstStyle/>
          <a:p>
            <a:pPr marL="0" indent="0" algn="ctr">
              <a:buNone/>
            </a:pPr>
            <a:r>
              <a:rPr lang="en-US" sz="1200" dirty="0">
                <a:solidFill>
                  <a:srgbClr val="4B5A4C"/>
                </a:solidFill>
                <a:latin typeface="Calibri" pitchFamily="34" charset="0"/>
                <a:ea typeface="Calibri" pitchFamily="34" charset="-122"/>
                <a:cs typeface="Calibri" pitchFamily="34" charset="-120"/>
              </a:rPr>
              <a:t>in damage &amp; costs every year</a:t>
            </a:r>
            <a:endParaRPr lang="en-US" sz="1200" dirty="0"/>
          </a:p>
        </p:txBody>
      </p:sp>
      <p:sp>
        <p:nvSpPr>
          <p:cNvPr id="14" name="Text 12"/>
          <p:cNvSpPr txBox="1"/>
          <p:nvPr/>
        </p:nvSpPr>
        <p:spPr>
          <a:xfrm>
            <a:off x="640080" y="4663440"/>
            <a:ext cx="7315200" cy="822960"/>
          </a:xfrm>
          <a:prstGeom prst="rect">
            <a:avLst/>
          </a:prstGeom>
          <a:noFill/>
          <a:ln/>
        </p:spPr>
        <p:txBody>
          <a:bodyPr wrap="square" lIns="0" tIns="0" rIns="0" bIns="0" rtlCol="0" anchor="ctr"/>
          <a:lstStyle/>
          <a:p>
            <a:pPr marL="0" indent="0">
              <a:buNone/>
            </a:pPr>
            <a:r>
              <a:rPr lang="en-US" sz="1250" i="1" dirty="0">
                <a:solidFill>
                  <a:srgbClr val="4B5A4C"/>
                </a:solidFill>
                <a:latin typeface="Calibri" pitchFamily="34" charset="0"/>
                <a:ea typeface="Calibri" pitchFamily="34" charset="-122"/>
                <a:cs typeface="Calibri" pitchFamily="34" charset="-120"/>
              </a:rPr>
              <a:t>Source note: national figures are insurance claims and federal safety research — a different kind of count than the police-reported crash records we use for our own prototype (next slide).</a:t>
            </a:r>
            <a:endParaRPr lang="en-US" sz="1250" dirty="0"/>
          </a:p>
        </p:txBody>
      </p:sp>
      <p:sp>
        <p:nvSpPr>
          <p:cNvPr id="15" name="Shape 13"/>
          <p:cNvSpPr/>
          <p:nvPr/>
        </p:nvSpPr>
        <p:spPr>
          <a:xfrm>
            <a:off x="9418320" y="2880360"/>
            <a:ext cx="1737360" cy="1737360"/>
          </a:xfrm>
          <a:prstGeom prst="ellipse">
            <a:avLst/>
          </a:prstGeom>
          <a:solidFill>
            <a:srgbClr val="2C5F2D"/>
          </a:solidFill>
          <a:ln/>
          <a:effectLst>
            <a:outerShdw blurRad="101600" dist="38100" dir="5400000" algn="bl" rotWithShape="0">
              <a:srgbClr val="000000">
                <a:alpha val="18000"/>
              </a:srgbClr>
            </a:outerShdw>
          </a:effectLst>
        </p:spPr>
        <p:txBody>
          <a:bodyPr/>
          <a:lstStyle/>
          <a:p>
            <a:endParaRPr lang="en-US"/>
          </a:p>
        </p:txBody>
      </p:sp>
      <p:pic>
        <p:nvPicPr>
          <p:cNvPr id="16" name="Image 0" descr="preencoded.png"/>
          <p:cNvPicPr>
            <a:picLocks noChangeAspect="1"/>
          </p:cNvPicPr>
          <p:nvPr/>
        </p:nvPicPr>
        <p:blipFill>
          <a:blip r:embed="rId3"/>
          <a:stretch>
            <a:fillRect/>
          </a:stretch>
        </p:blipFill>
        <p:spPr>
          <a:xfrm>
            <a:off x="9644177" y="3106217"/>
            <a:ext cx="1285646" cy="1285646"/>
          </a:xfrm>
          <a:prstGeom prst="rect">
            <a:avLst/>
          </a:prstGeom>
        </p:spPr>
      </p:pic>
      <p:sp>
        <p:nvSpPr>
          <p:cNvPr id="17" name="Text 14"/>
          <p:cNvSpPr txBox="1"/>
          <p:nvPr/>
        </p:nvSpPr>
        <p:spPr>
          <a:xfrm>
            <a:off x="11338560" y="6355080"/>
            <a:ext cx="457200" cy="320040"/>
          </a:xfrm>
          <a:prstGeom prst="rect">
            <a:avLst/>
          </a:prstGeom>
          <a:noFill/>
          <a:ln/>
        </p:spPr>
        <p:txBody>
          <a:bodyPr wrap="square" lIns="0" tIns="0" rIns="0" bIns="0" rtlCol="0" anchor="ctr"/>
          <a:lstStyle/>
          <a:p>
            <a:pPr marL="0" indent="0" algn="r">
              <a:buNone/>
            </a:pPr>
            <a:r>
              <a:rPr lang="en-US" sz="1100" dirty="0">
                <a:solidFill>
                  <a:srgbClr val="4B5A4C"/>
                </a:solidFill>
                <a:latin typeface="Calibri" pitchFamily="34" charset="0"/>
                <a:ea typeface="Calibri" pitchFamily="34" charset="-122"/>
                <a:cs typeface="Calibri" pitchFamily="34" charset="-120"/>
              </a:rPr>
              <a:t>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7315200" cy="365760"/>
          </a:xfrm>
          <a:prstGeom prst="rect">
            <a:avLst/>
          </a:prstGeom>
          <a:noFill/>
          <a:ln/>
        </p:spPr>
        <p:txBody>
          <a:bodyPr wrap="square" lIns="0" tIns="0" rIns="0" bIns="0" rtlCol="0" anchor="ctr"/>
          <a:lstStyle/>
          <a:p>
            <a:pPr marL="0" indent="0">
              <a:buNone/>
            </a:pPr>
            <a:r>
              <a:rPr lang="en-US" sz="1300" b="1" kern="0" spc="200" dirty="0">
                <a:solidFill>
                  <a:srgbClr val="B9781E"/>
                </a:solidFill>
                <a:latin typeface="Calibri" pitchFamily="34" charset="0"/>
                <a:ea typeface="Calibri" pitchFamily="34" charset="-122"/>
                <a:cs typeface="Calibri" pitchFamily="34" charset="-120"/>
              </a:rPr>
              <a:t>THE PROBLEM, AT HOME</a:t>
            </a:r>
            <a:endParaRPr lang="en-US" sz="1300" dirty="0"/>
          </a:p>
        </p:txBody>
      </p:sp>
      <p:sp>
        <p:nvSpPr>
          <p:cNvPr id="3" name="Text 1"/>
          <p:cNvSpPr txBox="1"/>
          <p:nvPr/>
        </p:nvSpPr>
        <p:spPr>
          <a:xfrm>
            <a:off x="640080" y="868680"/>
            <a:ext cx="10515600" cy="822960"/>
          </a:xfrm>
          <a:prstGeom prst="rect">
            <a:avLst/>
          </a:prstGeom>
          <a:noFill/>
          <a:ln/>
        </p:spPr>
        <p:txBody>
          <a:bodyPr wrap="square" lIns="0" tIns="0" rIns="0" bIns="0" rtlCol="0" anchor="ctr"/>
          <a:lstStyle/>
          <a:p>
            <a:pPr marL="0" indent="0">
              <a:buNone/>
            </a:pPr>
            <a:r>
              <a:rPr lang="en-US" sz="3000" b="1" dirty="0">
                <a:solidFill>
                  <a:srgbClr val="1E2A20"/>
                </a:solidFill>
                <a:latin typeface="Cambria" pitchFamily="34" charset="0"/>
                <a:ea typeface="Cambria" pitchFamily="34" charset="-122"/>
                <a:cs typeface="Cambria" pitchFamily="34" charset="-120"/>
              </a:rPr>
              <a:t>Iowa ranks in the nation’s top 10</a:t>
            </a:r>
            <a:endParaRPr lang="en-US" sz="3000" dirty="0"/>
          </a:p>
        </p:txBody>
      </p:sp>
      <p:sp>
        <p:nvSpPr>
          <p:cNvPr id="4" name="Text 2"/>
          <p:cNvSpPr txBox="1"/>
          <p:nvPr/>
        </p:nvSpPr>
        <p:spPr>
          <a:xfrm>
            <a:off x="640080" y="1691640"/>
            <a:ext cx="6675120" cy="1005840"/>
          </a:xfrm>
          <a:prstGeom prst="rect">
            <a:avLst/>
          </a:prstGeom>
          <a:noFill/>
          <a:ln/>
        </p:spPr>
        <p:txBody>
          <a:bodyPr wrap="square" lIns="0" tIns="0" rIns="0" bIns="0" rtlCol="0" anchor="ctr"/>
          <a:lstStyle/>
          <a:p>
            <a:pPr marL="0" indent="0">
              <a:buNone/>
            </a:pPr>
            <a:r>
              <a:rPr lang="en-US" sz="1450" dirty="0">
                <a:solidFill>
                  <a:srgbClr val="4B5A4C"/>
                </a:solidFill>
                <a:latin typeface="Calibri" pitchFamily="34" charset="0"/>
                <a:ea typeface="Calibri" pitchFamily="34" charset="-122"/>
                <a:cs typeface="Calibri" pitchFamily="34" charset="-120"/>
              </a:rPr>
              <a:t>Iowa is the #7 riskiest state for animal collisions (1 in 76 drivers, State Farm). We started with our own state’s real, police-reported crash records. In 2025 alone, Iowa DOT data shows:</a:t>
            </a:r>
            <a:endParaRPr lang="en-US" sz="1450" dirty="0"/>
          </a:p>
        </p:txBody>
      </p:sp>
      <p:sp>
        <p:nvSpPr>
          <p:cNvPr id="5" name="Shape 3"/>
          <p:cNvSpPr/>
          <p:nvPr/>
        </p:nvSpPr>
        <p:spPr>
          <a:xfrm>
            <a:off x="640080" y="2880360"/>
            <a:ext cx="2331720" cy="1554480"/>
          </a:xfrm>
          <a:prstGeom prst="roundRect">
            <a:avLst>
              <a:gd name="adj" fmla="val 7059"/>
            </a:avLst>
          </a:prstGeom>
          <a:solidFill>
            <a:srgbClr val="EEF3EA"/>
          </a:solidFill>
          <a:ln/>
          <a:effectLst>
            <a:outerShdw blurRad="101600" dist="38100" dir="5400000" algn="bl" rotWithShape="0">
              <a:srgbClr val="000000">
                <a:alpha val="18000"/>
              </a:srgbClr>
            </a:outerShdw>
          </a:effectLst>
        </p:spPr>
        <p:txBody>
          <a:bodyPr/>
          <a:lstStyle/>
          <a:p>
            <a:endParaRPr lang="en-US"/>
          </a:p>
        </p:txBody>
      </p:sp>
      <p:sp>
        <p:nvSpPr>
          <p:cNvPr id="6" name="Text 4"/>
          <p:cNvSpPr txBox="1"/>
          <p:nvPr/>
        </p:nvSpPr>
        <p:spPr>
          <a:xfrm>
            <a:off x="777240" y="3017520"/>
            <a:ext cx="2057400" cy="932688"/>
          </a:xfrm>
          <a:prstGeom prst="rect">
            <a:avLst/>
          </a:prstGeom>
          <a:noFill/>
          <a:ln/>
        </p:spPr>
        <p:txBody>
          <a:bodyPr wrap="square" lIns="0" tIns="0" rIns="0" bIns="0" rtlCol="0" anchor="b"/>
          <a:lstStyle/>
          <a:p>
            <a:pPr marL="0" indent="0" algn="ctr">
              <a:buNone/>
            </a:pPr>
            <a:r>
              <a:rPr lang="en-US" sz="3400" b="1" dirty="0">
                <a:solidFill>
                  <a:srgbClr val="2C5F2D"/>
                </a:solidFill>
                <a:latin typeface="Cambria" pitchFamily="34" charset="0"/>
                <a:ea typeface="Cambria" pitchFamily="34" charset="-122"/>
                <a:cs typeface="Cambria" pitchFamily="34" charset="-120"/>
              </a:rPr>
              <a:t>7,373</a:t>
            </a:r>
            <a:endParaRPr lang="en-US" sz="3400" dirty="0"/>
          </a:p>
        </p:txBody>
      </p:sp>
      <p:sp>
        <p:nvSpPr>
          <p:cNvPr id="7" name="Text 5"/>
          <p:cNvSpPr txBox="1"/>
          <p:nvPr/>
        </p:nvSpPr>
        <p:spPr>
          <a:xfrm>
            <a:off x="777240" y="3844138"/>
            <a:ext cx="2057400" cy="528523"/>
          </a:xfrm>
          <a:prstGeom prst="rect">
            <a:avLst/>
          </a:prstGeom>
          <a:noFill/>
          <a:ln/>
        </p:spPr>
        <p:txBody>
          <a:bodyPr wrap="square" lIns="0" tIns="0" rIns="0" bIns="0" rtlCol="0" anchor="t"/>
          <a:lstStyle/>
          <a:p>
            <a:pPr marL="0" indent="0" algn="ctr">
              <a:buNone/>
            </a:pPr>
            <a:r>
              <a:rPr lang="en-US" sz="1200" dirty="0">
                <a:solidFill>
                  <a:srgbClr val="4B5A4C"/>
                </a:solidFill>
                <a:latin typeface="Calibri" pitchFamily="34" charset="0"/>
                <a:ea typeface="Calibri" pitchFamily="34" charset="-122"/>
                <a:cs typeface="Calibri" pitchFamily="34" charset="-120"/>
              </a:rPr>
              <a:t>Iowa crash records we analyzed</a:t>
            </a:r>
            <a:endParaRPr lang="en-US" sz="1200" dirty="0"/>
          </a:p>
        </p:txBody>
      </p:sp>
      <p:sp>
        <p:nvSpPr>
          <p:cNvPr id="8" name="Shape 6"/>
          <p:cNvSpPr/>
          <p:nvPr/>
        </p:nvSpPr>
        <p:spPr>
          <a:xfrm>
            <a:off x="3154680" y="2880360"/>
            <a:ext cx="2331720" cy="1554480"/>
          </a:xfrm>
          <a:prstGeom prst="roundRect">
            <a:avLst>
              <a:gd name="adj" fmla="val 7059"/>
            </a:avLst>
          </a:prstGeom>
          <a:solidFill>
            <a:srgbClr val="EEF3EA"/>
          </a:solidFill>
          <a:ln/>
          <a:effectLst>
            <a:outerShdw blurRad="101600" dist="38100" dir="5400000" algn="bl" rotWithShape="0">
              <a:srgbClr val="000000">
                <a:alpha val="18000"/>
              </a:srgbClr>
            </a:outerShdw>
          </a:effectLst>
        </p:spPr>
        <p:txBody>
          <a:bodyPr/>
          <a:lstStyle/>
          <a:p>
            <a:endParaRPr lang="en-US"/>
          </a:p>
        </p:txBody>
      </p:sp>
      <p:sp>
        <p:nvSpPr>
          <p:cNvPr id="9" name="Text 7"/>
          <p:cNvSpPr txBox="1"/>
          <p:nvPr/>
        </p:nvSpPr>
        <p:spPr>
          <a:xfrm>
            <a:off x="3291840" y="3017520"/>
            <a:ext cx="2057400" cy="932688"/>
          </a:xfrm>
          <a:prstGeom prst="rect">
            <a:avLst/>
          </a:prstGeom>
          <a:noFill/>
          <a:ln/>
        </p:spPr>
        <p:txBody>
          <a:bodyPr wrap="square" lIns="0" tIns="0" rIns="0" bIns="0" rtlCol="0" anchor="b"/>
          <a:lstStyle/>
          <a:p>
            <a:pPr marL="0" indent="0" algn="ctr">
              <a:buNone/>
            </a:pPr>
            <a:r>
              <a:rPr lang="en-US" sz="3400" b="1" dirty="0">
                <a:solidFill>
                  <a:srgbClr val="B9781E"/>
                </a:solidFill>
                <a:latin typeface="Cambria" pitchFamily="34" charset="0"/>
                <a:ea typeface="Cambria" pitchFamily="34" charset="-122"/>
                <a:cs typeface="Cambria" pitchFamily="34" charset="-120"/>
              </a:rPr>
              <a:t>128</a:t>
            </a:r>
            <a:endParaRPr lang="en-US" sz="3400" dirty="0"/>
          </a:p>
        </p:txBody>
      </p:sp>
      <p:sp>
        <p:nvSpPr>
          <p:cNvPr id="10" name="Text 8"/>
          <p:cNvSpPr txBox="1"/>
          <p:nvPr/>
        </p:nvSpPr>
        <p:spPr>
          <a:xfrm>
            <a:off x="3291840" y="3844138"/>
            <a:ext cx="2057400" cy="528523"/>
          </a:xfrm>
          <a:prstGeom prst="rect">
            <a:avLst/>
          </a:prstGeom>
          <a:noFill/>
          <a:ln/>
        </p:spPr>
        <p:txBody>
          <a:bodyPr wrap="square" lIns="0" tIns="0" rIns="0" bIns="0" rtlCol="0" anchor="t"/>
          <a:lstStyle/>
          <a:p>
            <a:pPr marL="0" indent="0" algn="ctr">
              <a:buNone/>
            </a:pPr>
            <a:r>
              <a:rPr lang="en-US" sz="1200" dirty="0">
                <a:solidFill>
                  <a:srgbClr val="4B5A4C"/>
                </a:solidFill>
                <a:latin typeface="Calibri" pitchFamily="34" charset="0"/>
                <a:ea typeface="Calibri" pitchFamily="34" charset="-122"/>
                <a:cs typeface="Calibri" pitchFamily="34" charset="-120"/>
              </a:rPr>
              <a:t>people injured in Iowa</a:t>
            </a:r>
            <a:endParaRPr lang="en-US" sz="1200" dirty="0"/>
          </a:p>
        </p:txBody>
      </p:sp>
      <p:sp>
        <p:nvSpPr>
          <p:cNvPr id="11" name="Shape 9"/>
          <p:cNvSpPr/>
          <p:nvPr/>
        </p:nvSpPr>
        <p:spPr>
          <a:xfrm>
            <a:off x="5669280" y="2880360"/>
            <a:ext cx="2331720" cy="1554480"/>
          </a:xfrm>
          <a:prstGeom prst="roundRect">
            <a:avLst>
              <a:gd name="adj" fmla="val 7059"/>
            </a:avLst>
          </a:prstGeom>
          <a:solidFill>
            <a:srgbClr val="EEF3EA"/>
          </a:solidFill>
          <a:ln/>
          <a:effectLst>
            <a:outerShdw blurRad="101600" dist="38100" dir="5400000" algn="bl" rotWithShape="0">
              <a:srgbClr val="000000">
                <a:alpha val="18000"/>
              </a:srgbClr>
            </a:outerShdw>
          </a:effectLst>
        </p:spPr>
        <p:txBody>
          <a:bodyPr/>
          <a:lstStyle/>
          <a:p>
            <a:endParaRPr lang="en-US"/>
          </a:p>
        </p:txBody>
      </p:sp>
      <p:sp>
        <p:nvSpPr>
          <p:cNvPr id="12" name="Text 10"/>
          <p:cNvSpPr txBox="1"/>
          <p:nvPr/>
        </p:nvSpPr>
        <p:spPr>
          <a:xfrm>
            <a:off x="5806440" y="3017520"/>
            <a:ext cx="2057400" cy="932688"/>
          </a:xfrm>
          <a:prstGeom prst="rect">
            <a:avLst/>
          </a:prstGeom>
          <a:noFill/>
          <a:ln/>
        </p:spPr>
        <p:txBody>
          <a:bodyPr wrap="square" lIns="0" tIns="0" rIns="0" bIns="0" rtlCol="0" anchor="b"/>
          <a:lstStyle/>
          <a:p>
            <a:pPr marL="0" indent="0" algn="ctr">
              <a:buNone/>
            </a:pPr>
            <a:r>
              <a:rPr lang="en-US" sz="3400" b="1" dirty="0">
                <a:solidFill>
                  <a:srgbClr val="B23A2E"/>
                </a:solidFill>
                <a:latin typeface="Cambria" pitchFamily="34" charset="0"/>
                <a:ea typeface="Cambria" pitchFamily="34" charset="-122"/>
                <a:cs typeface="Cambria" pitchFamily="34" charset="-120"/>
              </a:rPr>
              <a:t>5</a:t>
            </a:r>
            <a:endParaRPr lang="en-US" sz="3400" dirty="0"/>
          </a:p>
        </p:txBody>
      </p:sp>
      <p:sp>
        <p:nvSpPr>
          <p:cNvPr id="13" name="Text 11"/>
          <p:cNvSpPr txBox="1"/>
          <p:nvPr/>
        </p:nvSpPr>
        <p:spPr>
          <a:xfrm>
            <a:off x="5806440" y="3844138"/>
            <a:ext cx="2057400" cy="528523"/>
          </a:xfrm>
          <a:prstGeom prst="rect">
            <a:avLst/>
          </a:prstGeom>
          <a:noFill/>
          <a:ln/>
        </p:spPr>
        <p:txBody>
          <a:bodyPr wrap="square" lIns="0" tIns="0" rIns="0" bIns="0" rtlCol="0" anchor="t"/>
          <a:lstStyle/>
          <a:p>
            <a:pPr marL="0" indent="0" algn="ctr">
              <a:buNone/>
            </a:pPr>
            <a:r>
              <a:rPr lang="en-US" sz="1200" dirty="0">
                <a:solidFill>
                  <a:srgbClr val="4B5A4C"/>
                </a:solidFill>
                <a:latin typeface="Calibri" pitchFamily="34" charset="0"/>
                <a:ea typeface="Calibri" pitchFamily="34" charset="-122"/>
                <a:cs typeface="Calibri" pitchFamily="34" charset="-120"/>
              </a:rPr>
              <a:t>people killed in Iowa</a:t>
            </a:r>
            <a:endParaRPr lang="en-US" sz="1200" dirty="0"/>
          </a:p>
        </p:txBody>
      </p:sp>
      <p:sp>
        <p:nvSpPr>
          <p:cNvPr id="14" name="Text 12"/>
          <p:cNvSpPr txBox="1"/>
          <p:nvPr/>
        </p:nvSpPr>
        <p:spPr>
          <a:xfrm>
            <a:off x="640080" y="4663440"/>
            <a:ext cx="7315200" cy="822960"/>
          </a:xfrm>
          <a:prstGeom prst="rect">
            <a:avLst/>
          </a:prstGeom>
          <a:noFill/>
          <a:ln/>
        </p:spPr>
        <p:txBody>
          <a:bodyPr wrap="square" lIns="0" tIns="0" rIns="0" bIns="0" rtlCol="0" anchor="ctr"/>
          <a:lstStyle/>
          <a:p>
            <a:pPr marL="0" indent="0">
              <a:buNone/>
            </a:pPr>
            <a:r>
              <a:rPr lang="en-US" sz="1300" i="1" dirty="0">
                <a:solidFill>
                  <a:srgbClr val="4B5A4C"/>
                </a:solidFill>
                <a:latin typeface="Calibri" pitchFamily="34" charset="0"/>
                <a:ea typeface="Calibri" pitchFamily="34" charset="-122"/>
                <a:cs typeface="Calibri" pitchFamily="34" charset="-120"/>
              </a:rPr>
              <a:t>Most of these were "just" property damage — but real people were still hurt, and a few families lost someone. That’s why this matters, in Iowa and everywhere else.</a:t>
            </a:r>
            <a:endParaRPr lang="en-US" sz="1300" dirty="0"/>
          </a:p>
        </p:txBody>
      </p:sp>
      <p:sp>
        <p:nvSpPr>
          <p:cNvPr id="15" name="Shape 13"/>
          <p:cNvSpPr/>
          <p:nvPr/>
        </p:nvSpPr>
        <p:spPr>
          <a:xfrm>
            <a:off x="9418320" y="2880360"/>
            <a:ext cx="1737360" cy="1737360"/>
          </a:xfrm>
          <a:prstGeom prst="ellipse">
            <a:avLst/>
          </a:prstGeom>
          <a:solidFill>
            <a:srgbClr val="2C5F2D"/>
          </a:solidFill>
          <a:ln/>
          <a:effectLst>
            <a:outerShdw blurRad="101600" dist="38100" dir="5400000" algn="bl" rotWithShape="0">
              <a:srgbClr val="000000">
                <a:alpha val="18000"/>
              </a:srgbClr>
            </a:outerShdw>
          </a:effectLst>
        </p:spPr>
        <p:txBody>
          <a:bodyPr/>
          <a:lstStyle/>
          <a:p>
            <a:endParaRPr lang="en-US"/>
          </a:p>
        </p:txBody>
      </p:sp>
      <p:pic>
        <p:nvPicPr>
          <p:cNvPr id="16" name="Image 0" descr="preencoded.png"/>
          <p:cNvPicPr>
            <a:picLocks noChangeAspect="1"/>
          </p:cNvPicPr>
          <p:nvPr/>
        </p:nvPicPr>
        <p:blipFill>
          <a:blip r:embed="rId3"/>
          <a:stretch>
            <a:fillRect/>
          </a:stretch>
        </p:blipFill>
        <p:spPr>
          <a:xfrm>
            <a:off x="9644177" y="3106217"/>
            <a:ext cx="1285646" cy="1285646"/>
          </a:xfrm>
          <a:prstGeom prst="rect">
            <a:avLst/>
          </a:prstGeom>
        </p:spPr>
      </p:pic>
      <p:sp>
        <p:nvSpPr>
          <p:cNvPr id="17" name="Text 14"/>
          <p:cNvSpPr txBox="1"/>
          <p:nvPr/>
        </p:nvSpPr>
        <p:spPr>
          <a:xfrm>
            <a:off x="11338560" y="6355080"/>
            <a:ext cx="457200" cy="320040"/>
          </a:xfrm>
          <a:prstGeom prst="rect">
            <a:avLst/>
          </a:prstGeom>
          <a:noFill/>
          <a:ln/>
        </p:spPr>
        <p:txBody>
          <a:bodyPr wrap="square" lIns="0" tIns="0" rIns="0" bIns="0" rtlCol="0" anchor="ctr"/>
          <a:lstStyle/>
          <a:p>
            <a:pPr marL="0" indent="0" algn="r">
              <a:buNone/>
            </a:pPr>
            <a:r>
              <a:rPr lang="en-US" sz="1100" dirty="0">
                <a:solidFill>
                  <a:srgbClr val="4B5A4C"/>
                </a:solidFill>
                <a:latin typeface="Calibri" pitchFamily="34" charset="0"/>
                <a:ea typeface="Calibri" pitchFamily="34" charset="-122"/>
                <a:cs typeface="Calibri" pitchFamily="34" charset="-120"/>
              </a:rPr>
              <a:t>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7315200" cy="365760"/>
          </a:xfrm>
          <a:prstGeom prst="rect">
            <a:avLst/>
          </a:prstGeom>
          <a:noFill/>
          <a:ln/>
        </p:spPr>
        <p:txBody>
          <a:bodyPr wrap="square" lIns="0" tIns="0" rIns="0" bIns="0" rtlCol="0" anchor="ctr"/>
          <a:lstStyle/>
          <a:p>
            <a:pPr marL="0" indent="0">
              <a:buNone/>
            </a:pPr>
            <a:r>
              <a:rPr lang="en-US" sz="1300" b="1" kern="0" spc="200" dirty="0">
                <a:solidFill>
                  <a:srgbClr val="B9781E"/>
                </a:solidFill>
                <a:latin typeface="Calibri" pitchFamily="34" charset="0"/>
                <a:ea typeface="Calibri" pitchFamily="34" charset="-122"/>
                <a:cs typeface="Calibri" pitchFamily="34" charset="-120"/>
              </a:rPr>
              <a:t>WHY THIS FITS BIOGLOW</a:t>
            </a:r>
            <a:endParaRPr lang="en-US" sz="1300" dirty="0"/>
          </a:p>
        </p:txBody>
      </p:sp>
      <p:sp>
        <p:nvSpPr>
          <p:cNvPr id="3" name="Text 1"/>
          <p:cNvSpPr txBox="1"/>
          <p:nvPr/>
        </p:nvSpPr>
        <p:spPr>
          <a:xfrm>
            <a:off x="640080" y="868680"/>
            <a:ext cx="10515600" cy="822960"/>
          </a:xfrm>
          <a:prstGeom prst="rect">
            <a:avLst/>
          </a:prstGeom>
          <a:noFill/>
          <a:ln/>
        </p:spPr>
        <p:txBody>
          <a:bodyPr wrap="square" lIns="0" tIns="0" rIns="0" bIns="0" rtlCol="0" anchor="ctr"/>
          <a:lstStyle/>
          <a:p>
            <a:pPr marL="0" indent="0">
              <a:buNone/>
            </a:pPr>
            <a:r>
              <a:rPr lang="en-US" sz="3000" b="1" dirty="0">
                <a:solidFill>
                  <a:srgbClr val="1E2A20"/>
                </a:solidFill>
                <a:latin typeface="Cambria" pitchFamily="34" charset="0"/>
                <a:ea typeface="Cambria" pitchFamily="34" charset="-122"/>
                <a:cs typeface="Cambria" pitchFamily="34" charset="-120"/>
              </a:rPr>
              <a:t>Nature and infrastructure, working together</a:t>
            </a:r>
            <a:endParaRPr lang="en-US" sz="3000" dirty="0"/>
          </a:p>
        </p:txBody>
      </p:sp>
      <p:sp>
        <p:nvSpPr>
          <p:cNvPr id="4" name="Shape 2"/>
          <p:cNvSpPr/>
          <p:nvPr/>
        </p:nvSpPr>
        <p:spPr>
          <a:xfrm>
            <a:off x="640080" y="1828800"/>
            <a:ext cx="822960" cy="822960"/>
          </a:xfrm>
          <a:prstGeom prst="ellipse">
            <a:avLst/>
          </a:prstGeom>
          <a:solidFill>
            <a:srgbClr val="2C5F2D"/>
          </a:solidFill>
          <a:ln/>
          <a:effectLst>
            <a:outerShdw blurRad="101600" dist="38100" dir="5400000" algn="bl" rotWithShape="0">
              <a:srgbClr val="000000">
                <a:alpha val="18000"/>
              </a:srgbClr>
            </a:outerShdw>
          </a:effectLst>
        </p:spPr>
        <p:txBody>
          <a:bodyPr/>
          <a:lstStyle/>
          <a:p>
            <a:endParaRPr lang="en-US"/>
          </a:p>
        </p:txBody>
      </p:sp>
      <p:pic>
        <p:nvPicPr>
          <p:cNvPr id="5" name="Image 0" descr="preencoded.png"/>
          <p:cNvPicPr>
            <a:picLocks noChangeAspect="1"/>
          </p:cNvPicPr>
          <p:nvPr/>
        </p:nvPicPr>
        <p:blipFill>
          <a:blip r:embed="rId3"/>
          <a:stretch>
            <a:fillRect/>
          </a:stretch>
        </p:blipFill>
        <p:spPr>
          <a:xfrm>
            <a:off x="747065" y="1935785"/>
            <a:ext cx="608990" cy="608990"/>
          </a:xfrm>
          <a:prstGeom prst="rect">
            <a:avLst/>
          </a:prstGeom>
        </p:spPr>
      </p:pic>
      <p:sp>
        <p:nvSpPr>
          <p:cNvPr id="6" name="Text 3"/>
          <p:cNvSpPr txBox="1"/>
          <p:nvPr/>
        </p:nvSpPr>
        <p:spPr>
          <a:xfrm>
            <a:off x="640080" y="2788920"/>
            <a:ext cx="3291840" cy="457200"/>
          </a:xfrm>
          <a:prstGeom prst="rect">
            <a:avLst/>
          </a:prstGeom>
          <a:noFill/>
          <a:ln/>
        </p:spPr>
        <p:txBody>
          <a:bodyPr wrap="square" lIns="0" tIns="0" rIns="0" bIns="0" rtlCol="0" anchor="ctr"/>
          <a:lstStyle/>
          <a:p>
            <a:pPr marL="0" indent="0">
              <a:buNone/>
            </a:pPr>
            <a:r>
              <a:rPr lang="en-US" sz="1700" b="1" dirty="0">
                <a:solidFill>
                  <a:srgbClr val="2C5F2D"/>
                </a:solidFill>
                <a:latin typeface="Cambria" pitchFamily="34" charset="0"/>
                <a:ea typeface="Cambria" pitchFamily="34" charset="-122"/>
                <a:cs typeface="Cambria" pitchFamily="34" charset="-120"/>
              </a:rPr>
              <a:t>The "Bio" side</a:t>
            </a:r>
            <a:endParaRPr lang="en-US" sz="1700" dirty="0"/>
          </a:p>
        </p:txBody>
      </p:sp>
      <p:sp>
        <p:nvSpPr>
          <p:cNvPr id="7" name="Text 4"/>
          <p:cNvSpPr txBox="1"/>
          <p:nvPr/>
        </p:nvSpPr>
        <p:spPr>
          <a:xfrm>
            <a:off x="640080" y="3246120"/>
            <a:ext cx="3291840" cy="1554480"/>
          </a:xfrm>
          <a:prstGeom prst="rect">
            <a:avLst/>
          </a:prstGeom>
          <a:noFill/>
          <a:ln/>
        </p:spPr>
        <p:txBody>
          <a:bodyPr wrap="square" lIns="0" tIns="0" rIns="0" bIns="0" rtlCol="0" anchor="ctr"/>
          <a:lstStyle/>
          <a:p>
            <a:pPr marL="0" indent="0">
              <a:buNone/>
            </a:pPr>
            <a:r>
              <a:rPr lang="en-US" sz="1300" dirty="0">
                <a:solidFill>
                  <a:srgbClr val="4B5A4C"/>
                </a:solidFill>
                <a:latin typeface="Calibri" pitchFamily="34" charset="0"/>
                <a:ea typeface="Calibri" pitchFamily="34" charset="-122"/>
                <a:cs typeface="Calibri" pitchFamily="34" charset="-120"/>
              </a:rPr>
              <a:t>Wildlife needs safe paths to find food, water, and shelter — roads shouldn’t be a barrier or a danger zone.</a:t>
            </a:r>
            <a:endParaRPr lang="en-US" sz="1300" dirty="0"/>
          </a:p>
        </p:txBody>
      </p:sp>
      <p:sp>
        <p:nvSpPr>
          <p:cNvPr id="8" name="Shape 5"/>
          <p:cNvSpPr/>
          <p:nvPr/>
        </p:nvSpPr>
        <p:spPr>
          <a:xfrm>
            <a:off x="4251960" y="1828800"/>
            <a:ext cx="822960" cy="822960"/>
          </a:xfrm>
          <a:prstGeom prst="ellipse">
            <a:avLst/>
          </a:prstGeom>
          <a:solidFill>
            <a:srgbClr val="2C5F2D"/>
          </a:solidFill>
          <a:ln/>
          <a:effectLst>
            <a:outerShdw blurRad="101600" dist="38100" dir="5400000" algn="bl" rotWithShape="0">
              <a:srgbClr val="000000">
                <a:alpha val="18000"/>
              </a:srgbClr>
            </a:outerShdw>
          </a:effectLst>
        </p:spPr>
        <p:txBody>
          <a:bodyPr/>
          <a:lstStyle/>
          <a:p>
            <a:endParaRPr lang="en-US"/>
          </a:p>
        </p:txBody>
      </p:sp>
      <p:pic>
        <p:nvPicPr>
          <p:cNvPr id="9" name="Image 1" descr="preencoded.png"/>
          <p:cNvPicPr>
            <a:picLocks noChangeAspect="1"/>
          </p:cNvPicPr>
          <p:nvPr/>
        </p:nvPicPr>
        <p:blipFill>
          <a:blip r:embed="rId4"/>
          <a:stretch>
            <a:fillRect/>
          </a:stretch>
        </p:blipFill>
        <p:spPr>
          <a:xfrm>
            <a:off x="4358945" y="1935785"/>
            <a:ext cx="608990" cy="608990"/>
          </a:xfrm>
          <a:prstGeom prst="rect">
            <a:avLst/>
          </a:prstGeom>
        </p:spPr>
      </p:pic>
      <p:sp>
        <p:nvSpPr>
          <p:cNvPr id="10" name="Text 6"/>
          <p:cNvSpPr txBox="1"/>
          <p:nvPr/>
        </p:nvSpPr>
        <p:spPr>
          <a:xfrm>
            <a:off x="4251960" y="2788920"/>
            <a:ext cx="3291840" cy="457200"/>
          </a:xfrm>
          <a:prstGeom prst="rect">
            <a:avLst/>
          </a:prstGeom>
          <a:noFill/>
          <a:ln/>
        </p:spPr>
        <p:txBody>
          <a:bodyPr wrap="square" lIns="0" tIns="0" rIns="0" bIns="0" rtlCol="0" anchor="ctr"/>
          <a:lstStyle/>
          <a:p>
            <a:pPr marL="0" indent="0">
              <a:buNone/>
            </a:pPr>
            <a:r>
              <a:rPr lang="en-US" sz="1700" b="1" dirty="0">
                <a:solidFill>
                  <a:srgbClr val="2C5F2D"/>
                </a:solidFill>
                <a:latin typeface="Cambria" pitchFamily="34" charset="0"/>
                <a:ea typeface="Cambria" pitchFamily="34" charset="-122"/>
                <a:cs typeface="Cambria" pitchFamily="34" charset="-120"/>
              </a:rPr>
              <a:t>The infrastructure gap</a:t>
            </a:r>
            <a:endParaRPr lang="en-US" sz="1700" dirty="0"/>
          </a:p>
        </p:txBody>
      </p:sp>
      <p:sp>
        <p:nvSpPr>
          <p:cNvPr id="11" name="Text 7"/>
          <p:cNvSpPr txBox="1"/>
          <p:nvPr/>
        </p:nvSpPr>
        <p:spPr>
          <a:xfrm>
            <a:off x="4251960" y="3246120"/>
            <a:ext cx="3291840" cy="1554480"/>
          </a:xfrm>
          <a:prstGeom prst="rect">
            <a:avLst/>
          </a:prstGeom>
          <a:noFill/>
          <a:ln/>
        </p:spPr>
        <p:txBody>
          <a:bodyPr wrap="square" lIns="0" tIns="0" rIns="0" bIns="0" rtlCol="0" anchor="ctr"/>
          <a:lstStyle/>
          <a:p>
            <a:pPr marL="0" indent="0">
              <a:buNone/>
            </a:pPr>
            <a:r>
              <a:rPr lang="en-US" sz="1300" dirty="0">
                <a:solidFill>
                  <a:srgbClr val="4B5A4C"/>
                </a:solidFill>
                <a:latin typeface="Calibri" pitchFamily="34" charset="0"/>
                <a:ea typeface="Calibri" pitchFamily="34" charset="-122"/>
                <a:cs typeface="Calibri" pitchFamily="34" charset="-120"/>
              </a:rPr>
              <a:t>Most roads have no way to tell drivers "this is a crossing hotspot right now" — just a static sign, if anything at all.</a:t>
            </a:r>
            <a:endParaRPr lang="en-US" sz="1300" dirty="0"/>
          </a:p>
        </p:txBody>
      </p:sp>
      <p:sp>
        <p:nvSpPr>
          <p:cNvPr id="12" name="Shape 8"/>
          <p:cNvSpPr/>
          <p:nvPr/>
        </p:nvSpPr>
        <p:spPr>
          <a:xfrm>
            <a:off x="7863840" y="1828800"/>
            <a:ext cx="822960" cy="822960"/>
          </a:xfrm>
          <a:prstGeom prst="ellipse">
            <a:avLst/>
          </a:prstGeom>
          <a:solidFill>
            <a:srgbClr val="2C5F2D"/>
          </a:solidFill>
          <a:ln/>
          <a:effectLst>
            <a:outerShdw blurRad="101600" dist="38100" dir="5400000" algn="bl" rotWithShape="0">
              <a:srgbClr val="000000">
                <a:alpha val="18000"/>
              </a:srgbClr>
            </a:outerShdw>
          </a:effectLst>
        </p:spPr>
        <p:txBody>
          <a:bodyPr/>
          <a:lstStyle/>
          <a:p>
            <a:endParaRPr lang="en-US"/>
          </a:p>
        </p:txBody>
      </p:sp>
      <p:pic>
        <p:nvPicPr>
          <p:cNvPr id="13" name="Image 2" descr="preencoded.png"/>
          <p:cNvPicPr>
            <a:picLocks noChangeAspect="1"/>
          </p:cNvPicPr>
          <p:nvPr/>
        </p:nvPicPr>
        <p:blipFill>
          <a:blip r:embed="rId5"/>
          <a:stretch>
            <a:fillRect/>
          </a:stretch>
        </p:blipFill>
        <p:spPr>
          <a:xfrm>
            <a:off x="7970825" y="1935785"/>
            <a:ext cx="608990" cy="608990"/>
          </a:xfrm>
          <a:prstGeom prst="rect">
            <a:avLst/>
          </a:prstGeom>
        </p:spPr>
      </p:pic>
      <p:sp>
        <p:nvSpPr>
          <p:cNvPr id="14" name="Text 9"/>
          <p:cNvSpPr txBox="1"/>
          <p:nvPr/>
        </p:nvSpPr>
        <p:spPr>
          <a:xfrm>
            <a:off x="7863840" y="2788920"/>
            <a:ext cx="3291840" cy="457200"/>
          </a:xfrm>
          <a:prstGeom prst="rect">
            <a:avLst/>
          </a:prstGeom>
          <a:noFill/>
          <a:ln/>
        </p:spPr>
        <p:txBody>
          <a:bodyPr wrap="square" lIns="0" tIns="0" rIns="0" bIns="0" rtlCol="0" anchor="ctr"/>
          <a:lstStyle/>
          <a:p>
            <a:pPr marL="0" indent="0">
              <a:buNone/>
            </a:pPr>
            <a:r>
              <a:rPr lang="en-US" sz="1700" b="1" dirty="0">
                <a:solidFill>
                  <a:srgbClr val="2C5F2D"/>
                </a:solidFill>
                <a:latin typeface="Cambria" pitchFamily="34" charset="0"/>
                <a:ea typeface="Cambria" pitchFamily="34" charset="-122"/>
                <a:cs typeface="Cambria" pitchFamily="34" charset="-120"/>
              </a:rPr>
              <a:t>Our bridge between them</a:t>
            </a:r>
            <a:endParaRPr lang="en-US" sz="1700" dirty="0"/>
          </a:p>
        </p:txBody>
      </p:sp>
      <p:sp>
        <p:nvSpPr>
          <p:cNvPr id="15" name="Text 10"/>
          <p:cNvSpPr txBox="1"/>
          <p:nvPr/>
        </p:nvSpPr>
        <p:spPr>
          <a:xfrm>
            <a:off x="7863840" y="3246120"/>
            <a:ext cx="3291840" cy="1554480"/>
          </a:xfrm>
          <a:prstGeom prst="rect">
            <a:avLst/>
          </a:prstGeom>
          <a:noFill/>
          <a:ln/>
        </p:spPr>
        <p:txBody>
          <a:bodyPr wrap="square" lIns="0" tIns="0" rIns="0" bIns="0" rtlCol="0" anchor="ctr"/>
          <a:lstStyle/>
          <a:p>
            <a:pPr marL="0" indent="0">
              <a:buNone/>
            </a:pPr>
            <a:r>
              <a:rPr lang="en-US" sz="1300" dirty="0">
                <a:solidFill>
                  <a:srgbClr val="4B5A4C"/>
                </a:solidFill>
                <a:latin typeface="Calibri" pitchFamily="34" charset="0"/>
                <a:ea typeface="Calibri" pitchFamily="34" charset="-122"/>
                <a:cs typeface="Calibri" pitchFamily="34" charset="-120"/>
              </a:rPr>
              <a:t>Pause for Paws turns real crash history into a signal that reaches drivers through tools they already use — starting in Iowa, built to fit any state with the same problem.</a:t>
            </a:r>
            <a:endParaRPr lang="en-US" sz="1300" dirty="0"/>
          </a:p>
        </p:txBody>
      </p:sp>
      <p:sp>
        <p:nvSpPr>
          <p:cNvPr id="16" name="Shape 11"/>
          <p:cNvSpPr/>
          <p:nvPr/>
        </p:nvSpPr>
        <p:spPr>
          <a:xfrm>
            <a:off x="640080" y="5166360"/>
            <a:ext cx="10881360" cy="960120"/>
          </a:xfrm>
          <a:prstGeom prst="roundRect">
            <a:avLst>
              <a:gd name="adj" fmla="val 11429"/>
            </a:avLst>
          </a:prstGeom>
          <a:solidFill>
            <a:srgbClr val="17331F"/>
          </a:solidFill>
          <a:ln/>
        </p:spPr>
        <p:txBody>
          <a:bodyPr/>
          <a:lstStyle/>
          <a:p>
            <a:endParaRPr lang="en-US"/>
          </a:p>
        </p:txBody>
      </p:sp>
      <p:sp>
        <p:nvSpPr>
          <p:cNvPr id="17" name="Text 12"/>
          <p:cNvSpPr txBox="1"/>
          <p:nvPr/>
        </p:nvSpPr>
        <p:spPr>
          <a:xfrm>
            <a:off x="914400" y="5166360"/>
            <a:ext cx="10332720" cy="960120"/>
          </a:xfrm>
          <a:prstGeom prst="rect">
            <a:avLst/>
          </a:prstGeom>
          <a:noFill/>
          <a:ln/>
        </p:spPr>
        <p:txBody>
          <a:bodyPr wrap="square" lIns="0" tIns="0" rIns="0" bIns="0" rtlCol="0" anchor="ctr"/>
          <a:lstStyle/>
          <a:p>
            <a:pPr marL="0" indent="0">
              <a:buNone/>
            </a:pPr>
            <a:r>
              <a:rPr lang="en-US" sz="1500" i="1" dirty="0">
                <a:solidFill>
                  <a:srgbClr val="FFFFFF"/>
                </a:solidFill>
                <a:latin typeface="Calibri" pitchFamily="34" charset="0"/>
                <a:ea typeface="Calibri" pitchFamily="34" charset="-122"/>
                <a:cs typeface="Calibri" pitchFamily="34" charset="-120"/>
              </a:rPr>
              <a:t>BIOGLOW asks us to find solutions where living systems and human-built systems meet. Pause for Paws lives exactly there.</a:t>
            </a:r>
            <a:endParaRPr lang="en-US" sz="1500" dirty="0"/>
          </a:p>
        </p:txBody>
      </p:sp>
      <p:sp>
        <p:nvSpPr>
          <p:cNvPr id="18" name="Text 13"/>
          <p:cNvSpPr txBox="1"/>
          <p:nvPr/>
        </p:nvSpPr>
        <p:spPr>
          <a:xfrm>
            <a:off x="11338560" y="6355080"/>
            <a:ext cx="457200" cy="320040"/>
          </a:xfrm>
          <a:prstGeom prst="rect">
            <a:avLst/>
          </a:prstGeom>
          <a:noFill/>
          <a:ln/>
        </p:spPr>
        <p:txBody>
          <a:bodyPr wrap="square" lIns="0" tIns="0" rIns="0" bIns="0" rtlCol="0" anchor="ctr"/>
          <a:lstStyle/>
          <a:p>
            <a:pPr marL="0" indent="0" algn="r">
              <a:buNone/>
            </a:pPr>
            <a:r>
              <a:rPr lang="en-US" sz="1100" dirty="0">
                <a:solidFill>
                  <a:srgbClr val="4B5A4C"/>
                </a:solidFill>
                <a:latin typeface="Calibri" pitchFamily="34" charset="0"/>
                <a:ea typeface="Calibri" pitchFamily="34" charset="-122"/>
                <a:cs typeface="Calibri" pitchFamily="34" charset="-120"/>
              </a:rPr>
              <a:t>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7315200" cy="365760"/>
          </a:xfrm>
          <a:prstGeom prst="rect">
            <a:avLst/>
          </a:prstGeom>
          <a:noFill/>
          <a:ln/>
        </p:spPr>
        <p:txBody>
          <a:bodyPr wrap="square" lIns="0" tIns="0" rIns="0" bIns="0" rtlCol="0" anchor="ctr"/>
          <a:lstStyle/>
          <a:p>
            <a:pPr marL="0" indent="0">
              <a:buNone/>
            </a:pPr>
            <a:r>
              <a:rPr lang="en-US" sz="1300" b="1" kern="0" spc="200" dirty="0">
                <a:solidFill>
                  <a:srgbClr val="B9781E"/>
                </a:solidFill>
                <a:latin typeface="Calibri" pitchFamily="34" charset="0"/>
                <a:ea typeface="Calibri" pitchFamily="34" charset="-122"/>
                <a:cs typeface="Calibri" pitchFamily="34" charset="-120"/>
              </a:rPr>
              <a:t>OUR TEAM PROCESS</a:t>
            </a:r>
            <a:endParaRPr lang="en-US" sz="1300" dirty="0"/>
          </a:p>
        </p:txBody>
      </p:sp>
      <p:sp>
        <p:nvSpPr>
          <p:cNvPr id="3" name="Text 1"/>
          <p:cNvSpPr txBox="1"/>
          <p:nvPr/>
        </p:nvSpPr>
        <p:spPr>
          <a:xfrm>
            <a:off x="640080" y="868680"/>
            <a:ext cx="10515600" cy="822960"/>
          </a:xfrm>
          <a:prstGeom prst="rect">
            <a:avLst/>
          </a:prstGeom>
          <a:noFill/>
          <a:ln/>
        </p:spPr>
        <p:txBody>
          <a:bodyPr wrap="square" lIns="0" tIns="0" rIns="0" bIns="0" rtlCol="0" anchor="ctr"/>
          <a:lstStyle/>
          <a:p>
            <a:pPr marL="0" indent="0">
              <a:buNone/>
            </a:pPr>
            <a:r>
              <a:rPr lang="en-US" sz="3000" b="1" dirty="0">
                <a:solidFill>
                  <a:srgbClr val="1E2A20"/>
                </a:solidFill>
                <a:latin typeface="Cambria" pitchFamily="34" charset="0"/>
                <a:ea typeface="Cambria" pitchFamily="34" charset="-122"/>
                <a:cs typeface="Cambria" pitchFamily="34" charset="-120"/>
              </a:rPr>
              <a:t>How we agreed on this project</a:t>
            </a:r>
            <a:endParaRPr lang="en-US" sz="3000" dirty="0"/>
          </a:p>
        </p:txBody>
      </p:sp>
      <p:sp>
        <p:nvSpPr>
          <p:cNvPr id="4" name="Text 2"/>
          <p:cNvSpPr txBox="1"/>
          <p:nvPr/>
        </p:nvSpPr>
        <p:spPr>
          <a:xfrm>
            <a:off x="640080" y="1691640"/>
            <a:ext cx="7315200" cy="365760"/>
          </a:xfrm>
          <a:prstGeom prst="rect">
            <a:avLst/>
          </a:prstGeom>
          <a:noFill/>
          <a:ln/>
        </p:spPr>
        <p:txBody>
          <a:bodyPr wrap="square" lIns="0" tIns="0" rIns="0" bIns="0" rtlCol="0" anchor="ctr"/>
          <a:lstStyle/>
          <a:p>
            <a:pPr marL="0" indent="0">
              <a:buNone/>
            </a:pPr>
            <a:r>
              <a:rPr lang="en-US" sz="1400" dirty="0">
                <a:solidFill>
                  <a:srgbClr val="4B5A4C"/>
                </a:solidFill>
                <a:latin typeface="Calibri" pitchFamily="34" charset="0"/>
                <a:ea typeface="Calibri" pitchFamily="34" charset="-122"/>
                <a:cs typeface="Calibri" pitchFamily="34" charset="-120"/>
              </a:rPr>
              <a:t>We brainstormed several ideas as a team before choosing one:</a:t>
            </a:r>
            <a:endParaRPr lang="en-US" sz="1400" dirty="0"/>
          </a:p>
        </p:txBody>
      </p:sp>
      <p:sp>
        <p:nvSpPr>
          <p:cNvPr id="5" name="Shape 3"/>
          <p:cNvSpPr/>
          <p:nvPr/>
        </p:nvSpPr>
        <p:spPr>
          <a:xfrm>
            <a:off x="640080" y="2240280"/>
            <a:ext cx="5120640" cy="457200"/>
          </a:xfrm>
          <a:prstGeom prst="roundRect">
            <a:avLst>
              <a:gd name="adj" fmla="val 16000"/>
            </a:avLst>
          </a:prstGeom>
          <a:solidFill>
            <a:srgbClr val="EEF3EA"/>
          </a:solidFill>
          <a:ln/>
        </p:spPr>
        <p:txBody>
          <a:bodyPr/>
          <a:lstStyle/>
          <a:p>
            <a:endParaRPr lang="en-US"/>
          </a:p>
        </p:txBody>
      </p:sp>
      <p:sp>
        <p:nvSpPr>
          <p:cNvPr id="6" name="Text 4"/>
          <p:cNvSpPr txBox="1"/>
          <p:nvPr/>
        </p:nvSpPr>
        <p:spPr>
          <a:xfrm>
            <a:off x="777240" y="2240280"/>
            <a:ext cx="4846320" cy="457200"/>
          </a:xfrm>
          <a:prstGeom prst="rect">
            <a:avLst/>
          </a:prstGeom>
          <a:noFill/>
          <a:ln/>
        </p:spPr>
        <p:txBody>
          <a:bodyPr wrap="square" lIns="0" tIns="0" rIns="0" bIns="0" rtlCol="0" anchor="ctr"/>
          <a:lstStyle/>
          <a:p>
            <a:pPr marL="0" indent="0">
              <a:buNone/>
            </a:pPr>
            <a:r>
              <a:rPr lang="en-US" sz="1300" dirty="0">
                <a:solidFill>
                  <a:srgbClr val="1E2A20"/>
                </a:solidFill>
                <a:latin typeface="Calibri" pitchFamily="34" charset="0"/>
                <a:ea typeface="Calibri" pitchFamily="34" charset="-122"/>
                <a:cs typeface="Calibri" pitchFamily="34" charset="-120"/>
              </a:rPr>
              <a:t>•  Firefly counter (biodiversity tracking)</a:t>
            </a:r>
            <a:endParaRPr lang="en-US" sz="1300" dirty="0"/>
          </a:p>
        </p:txBody>
      </p:sp>
      <p:sp>
        <p:nvSpPr>
          <p:cNvPr id="7" name="Shape 5"/>
          <p:cNvSpPr/>
          <p:nvPr/>
        </p:nvSpPr>
        <p:spPr>
          <a:xfrm>
            <a:off x="6080760" y="2240280"/>
            <a:ext cx="5120640" cy="457200"/>
          </a:xfrm>
          <a:prstGeom prst="roundRect">
            <a:avLst>
              <a:gd name="adj" fmla="val 16000"/>
            </a:avLst>
          </a:prstGeom>
          <a:solidFill>
            <a:srgbClr val="EEF3EA"/>
          </a:solidFill>
          <a:ln/>
        </p:spPr>
        <p:txBody>
          <a:bodyPr/>
          <a:lstStyle/>
          <a:p>
            <a:endParaRPr lang="en-US"/>
          </a:p>
        </p:txBody>
      </p:sp>
      <p:sp>
        <p:nvSpPr>
          <p:cNvPr id="8" name="Text 6"/>
          <p:cNvSpPr txBox="1"/>
          <p:nvPr/>
        </p:nvSpPr>
        <p:spPr>
          <a:xfrm>
            <a:off x="6217920" y="2240280"/>
            <a:ext cx="4846320" cy="457200"/>
          </a:xfrm>
          <a:prstGeom prst="rect">
            <a:avLst/>
          </a:prstGeom>
          <a:noFill/>
          <a:ln/>
        </p:spPr>
        <p:txBody>
          <a:bodyPr wrap="square" lIns="0" tIns="0" rIns="0" bIns="0" rtlCol="0" anchor="ctr"/>
          <a:lstStyle/>
          <a:p>
            <a:pPr marL="0" indent="0">
              <a:buNone/>
            </a:pPr>
            <a:r>
              <a:rPr lang="en-US" sz="1300" dirty="0">
                <a:solidFill>
                  <a:srgbClr val="1E2A20"/>
                </a:solidFill>
                <a:latin typeface="Calibri" pitchFamily="34" charset="0"/>
                <a:ea typeface="Calibri" pitchFamily="34" charset="-122"/>
                <a:cs typeface="Calibri" pitchFamily="34" charset="-120"/>
              </a:rPr>
              <a:t>•  Cafeteria compost loop</a:t>
            </a:r>
            <a:endParaRPr lang="en-US" sz="1300" dirty="0"/>
          </a:p>
        </p:txBody>
      </p:sp>
      <p:sp>
        <p:nvSpPr>
          <p:cNvPr id="9" name="Shape 7"/>
          <p:cNvSpPr/>
          <p:nvPr/>
        </p:nvSpPr>
        <p:spPr>
          <a:xfrm>
            <a:off x="640080" y="2807208"/>
            <a:ext cx="5120640" cy="457200"/>
          </a:xfrm>
          <a:prstGeom prst="roundRect">
            <a:avLst>
              <a:gd name="adj" fmla="val 16000"/>
            </a:avLst>
          </a:prstGeom>
          <a:solidFill>
            <a:srgbClr val="EEF3EA"/>
          </a:solidFill>
          <a:ln/>
        </p:spPr>
        <p:txBody>
          <a:bodyPr/>
          <a:lstStyle/>
          <a:p>
            <a:endParaRPr lang="en-US"/>
          </a:p>
        </p:txBody>
      </p:sp>
      <p:sp>
        <p:nvSpPr>
          <p:cNvPr id="10" name="Text 8"/>
          <p:cNvSpPr txBox="1"/>
          <p:nvPr/>
        </p:nvSpPr>
        <p:spPr>
          <a:xfrm>
            <a:off x="777240" y="2807208"/>
            <a:ext cx="4846320" cy="457200"/>
          </a:xfrm>
          <a:prstGeom prst="rect">
            <a:avLst/>
          </a:prstGeom>
          <a:noFill/>
          <a:ln/>
        </p:spPr>
        <p:txBody>
          <a:bodyPr wrap="square" lIns="0" tIns="0" rIns="0" bIns="0" rtlCol="0" anchor="ctr"/>
          <a:lstStyle/>
          <a:p>
            <a:pPr marL="0" indent="0">
              <a:buNone/>
            </a:pPr>
            <a:r>
              <a:rPr lang="en-US" sz="1300" dirty="0">
                <a:solidFill>
                  <a:srgbClr val="1E2A20"/>
                </a:solidFill>
                <a:latin typeface="Calibri" pitchFamily="34" charset="0"/>
                <a:ea typeface="Calibri" pitchFamily="34" charset="-122"/>
                <a:cs typeface="Calibri" pitchFamily="34" charset="-120"/>
              </a:rPr>
              <a:t>•  Seed-ball disperser</a:t>
            </a:r>
            <a:endParaRPr lang="en-US" sz="1300" dirty="0"/>
          </a:p>
        </p:txBody>
      </p:sp>
      <p:sp>
        <p:nvSpPr>
          <p:cNvPr id="11" name="Shape 9"/>
          <p:cNvSpPr/>
          <p:nvPr/>
        </p:nvSpPr>
        <p:spPr>
          <a:xfrm>
            <a:off x="6080760" y="2807208"/>
            <a:ext cx="5120640" cy="457200"/>
          </a:xfrm>
          <a:prstGeom prst="roundRect">
            <a:avLst>
              <a:gd name="adj" fmla="val 16000"/>
            </a:avLst>
          </a:prstGeom>
          <a:solidFill>
            <a:srgbClr val="EEF3EA"/>
          </a:solidFill>
          <a:ln/>
        </p:spPr>
        <p:txBody>
          <a:bodyPr/>
          <a:lstStyle/>
          <a:p>
            <a:endParaRPr lang="en-US"/>
          </a:p>
        </p:txBody>
      </p:sp>
      <p:sp>
        <p:nvSpPr>
          <p:cNvPr id="12" name="Text 10"/>
          <p:cNvSpPr txBox="1"/>
          <p:nvPr/>
        </p:nvSpPr>
        <p:spPr>
          <a:xfrm>
            <a:off x="6217920" y="2807208"/>
            <a:ext cx="4846320" cy="457200"/>
          </a:xfrm>
          <a:prstGeom prst="rect">
            <a:avLst/>
          </a:prstGeom>
          <a:noFill/>
          <a:ln/>
        </p:spPr>
        <p:txBody>
          <a:bodyPr wrap="square" lIns="0" tIns="0" rIns="0" bIns="0" rtlCol="0" anchor="ctr"/>
          <a:lstStyle/>
          <a:p>
            <a:pPr marL="0" indent="0">
              <a:buNone/>
            </a:pPr>
            <a:r>
              <a:rPr lang="en-US" sz="1300" dirty="0">
                <a:solidFill>
                  <a:srgbClr val="1E2A20"/>
                </a:solidFill>
                <a:latin typeface="Calibri" pitchFamily="34" charset="0"/>
                <a:ea typeface="Calibri" pitchFamily="34" charset="-122"/>
                <a:cs typeface="Calibri" pitchFamily="34" charset="-120"/>
              </a:rPr>
              <a:t>•  Second Chance Reefs (Christmas tree recycling)</a:t>
            </a:r>
            <a:endParaRPr lang="en-US" sz="1300" dirty="0"/>
          </a:p>
        </p:txBody>
      </p:sp>
      <p:sp>
        <p:nvSpPr>
          <p:cNvPr id="13" name="Shape 11"/>
          <p:cNvSpPr/>
          <p:nvPr/>
        </p:nvSpPr>
        <p:spPr>
          <a:xfrm>
            <a:off x="640080" y="3374136"/>
            <a:ext cx="5120640" cy="457200"/>
          </a:xfrm>
          <a:prstGeom prst="roundRect">
            <a:avLst>
              <a:gd name="adj" fmla="val 16000"/>
            </a:avLst>
          </a:prstGeom>
          <a:solidFill>
            <a:srgbClr val="EEF3EA"/>
          </a:solidFill>
          <a:ln/>
        </p:spPr>
        <p:txBody>
          <a:bodyPr/>
          <a:lstStyle/>
          <a:p>
            <a:endParaRPr lang="en-US"/>
          </a:p>
        </p:txBody>
      </p:sp>
      <p:sp>
        <p:nvSpPr>
          <p:cNvPr id="14" name="Text 12"/>
          <p:cNvSpPr txBox="1"/>
          <p:nvPr/>
        </p:nvSpPr>
        <p:spPr>
          <a:xfrm>
            <a:off x="777240" y="3374136"/>
            <a:ext cx="4846320" cy="457200"/>
          </a:xfrm>
          <a:prstGeom prst="rect">
            <a:avLst/>
          </a:prstGeom>
          <a:noFill/>
          <a:ln/>
        </p:spPr>
        <p:txBody>
          <a:bodyPr wrap="square" lIns="0" tIns="0" rIns="0" bIns="0" rtlCol="0" anchor="ctr"/>
          <a:lstStyle/>
          <a:p>
            <a:pPr marL="0" indent="0">
              <a:buNone/>
            </a:pPr>
            <a:r>
              <a:rPr lang="en-US" sz="1300" dirty="0">
                <a:solidFill>
                  <a:srgbClr val="1E2A20"/>
                </a:solidFill>
                <a:latin typeface="Calibri" pitchFamily="34" charset="0"/>
                <a:ea typeface="Calibri" pitchFamily="34" charset="-122"/>
                <a:cs typeface="Calibri" pitchFamily="34" charset="-120"/>
              </a:rPr>
              <a:t>•  River Filters: Mussel Comeback</a:t>
            </a:r>
            <a:endParaRPr lang="en-US" sz="1300" dirty="0"/>
          </a:p>
        </p:txBody>
      </p:sp>
      <p:sp>
        <p:nvSpPr>
          <p:cNvPr id="15" name="Shape 13"/>
          <p:cNvSpPr/>
          <p:nvPr/>
        </p:nvSpPr>
        <p:spPr>
          <a:xfrm>
            <a:off x="6080760" y="3374136"/>
            <a:ext cx="5120640" cy="457200"/>
          </a:xfrm>
          <a:prstGeom prst="roundRect">
            <a:avLst>
              <a:gd name="adj" fmla="val 16000"/>
            </a:avLst>
          </a:prstGeom>
          <a:solidFill>
            <a:srgbClr val="2C5F2D"/>
          </a:solidFill>
          <a:ln/>
        </p:spPr>
        <p:txBody>
          <a:bodyPr/>
          <a:lstStyle/>
          <a:p>
            <a:endParaRPr lang="en-US"/>
          </a:p>
        </p:txBody>
      </p:sp>
      <p:sp>
        <p:nvSpPr>
          <p:cNvPr id="16" name="Text 14"/>
          <p:cNvSpPr txBox="1"/>
          <p:nvPr/>
        </p:nvSpPr>
        <p:spPr>
          <a:xfrm>
            <a:off x="6217920" y="3374136"/>
            <a:ext cx="4846320" cy="45720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  Pause for Paws (wildlife crossing safety)</a:t>
            </a:r>
            <a:endParaRPr lang="en-US" sz="1300" dirty="0"/>
          </a:p>
        </p:txBody>
      </p:sp>
      <p:sp>
        <p:nvSpPr>
          <p:cNvPr id="17" name="Text 15"/>
          <p:cNvSpPr txBox="1"/>
          <p:nvPr/>
        </p:nvSpPr>
        <p:spPr>
          <a:xfrm>
            <a:off x="640080" y="4206240"/>
            <a:ext cx="10515600" cy="914400"/>
          </a:xfrm>
          <a:prstGeom prst="rect">
            <a:avLst/>
          </a:prstGeom>
          <a:noFill/>
          <a:ln/>
        </p:spPr>
        <p:txBody>
          <a:bodyPr wrap="square" lIns="0" tIns="0" rIns="0" bIns="0" rtlCol="0" anchor="ctr"/>
          <a:lstStyle/>
          <a:p>
            <a:pPr marL="0" indent="0">
              <a:buNone/>
            </a:pPr>
            <a:r>
              <a:rPr lang="en-US" sz="1400" i="1" dirty="0">
                <a:solidFill>
                  <a:srgbClr val="4B5A4C"/>
                </a:solidFill>
                <a:latin typeface="Calibri" pitchFamily="34" charset="0"/>
                <a:ea typeface="Calibri" pitchFamily="34" charset="-122"/>
                <a:cs typeface="Calibri" pitchFamily="34" charset="-120"/>
              </a:rPr>
              <a:t>We picked Pause for Paws because it used real, available data; it fit BIOGLOW’s nature + infrastructure theme better than any other idea; and everyone on the team could contribute — data, design, and outreach.</a:t>
            </a:r>
            <a:endParaRPr lang="en-US" sz="1400" dirty="0"/>
          </a:p>
        </p:txBody>
      </p:sp>
      <p:sp>
        <p:nvSpPr>
          <p:cNvPr id="18" name="Shape 16"/>
          <p:cNvSpPr/>
          <p:nvPr/>
        </p:nvSpPr>
        <p:spPr>
          <a:xfrm>
            <a:off x="640080" y="5257800"/>
            <a:ext cx="777240" cy="777240"/>
          </a:xfrm>
          <a:prstGeom prst="ellipse">
            <a:avLst/>
          </a:prstGeom>
          <a:solidFill>
            <a:srgbClr val="B9781E"/>
          </a:solidFill>
          <a:ln/>
          <a:effectLst>
            <a:outerShdw blurRad="101600" dist="38100" dir="5400000" algn="bl" rotWithShape="0">
              <a:srgbClr val="000000">
                <a:alpha val="18000"/>
              </a:srgbClr>
            </a:outerShdw>
          </a:effectLst>
        </p:spPr>
        <p:txBody>
          <a:bodyPr/>
          <a:lstStyle/>
          <a:p>
            <a:endParaRPr lang="en-US"/>
          </a:p>
        </p:txBody>
      </p:sp>
      <p:pic>
        <p:nvPicPr>
          <p:cNvPr id="19" name="Image 0" descr="preencoded.png"/>
          <p:cNvPicPr>
            <a:picLocks noChangeAspect="1"/>
          </p:cNvPicPr>
          <p:nvPr/>
        </p:nvPicPr>
        <p:blipFill>
          <a:blip r:embed="rId3"/>
          <a:stretch>
            <a:fillRect/>
          </a:stretch>
        </p:blipFill>
        <p:spPr>
          <a:xfrm>
            <a:off x="741121" y="5358841"/>
            <a:ext cx="575158" cy="575158"/>
          </a:xfrm>
          <a:prstGeom prst="rect">
            <a:avLst/>
          </a:prstGeom>
        </p:spPr>
      </p:pic>
      <p:sp>
        <p:nvSpPr>
          <p:cNvPr id="20" name="Text 17"/>
          <p:cNvSpPr txBox="1"/>
          <p:nvPr/>
        </p:nvSpPr>
        <p:spPr>
          <a:xfrm>
            <a:off x="1600200" y="5349240"/>
            <a:ext cx="9144000" cy="594360"/>
          </a:xfrm>
          <a:prstGeom prst="rect">
            <a:avLst/>
          </a:prstGeom>
          <a:noFill/>
          <a:ln/>
        </p:spPr>
        <p:txBody>
          <a:bodyPr wrap="square" lIns="0" tIns="0" rIns="0" bIns="0" rtlCol="0" anchor="ctr"/>
          <a:lstStyle/>
          <a:p>
            <a:pPr marL="0" indent="0">
              <a:buNone/>
            </a:pPr>
            <a:r>
              <a:rPr lang="en-US" sz="1300" dirty="0">
                <a:solidFill>
                  <a:srgbClr val="1E2A20"/>
                </a:solidFill>
                <a:latin typeface="Calibri" pitchFamily="34" charset="0"/>
                <a:ea typeface="Calibri" pitchFamily="34" charset="-122"/>
                <a:cs typeface="Calibri" pitchFamily="34" charset="-120"/>
              </a:rPr>
              <a:t>Every teammate voted, and it was a team decision — not just one person’s idea.</a:t>
            </a:r>
            <a:endParaRPr lang="en-US" sz="1300" dirty="0"/>
          </a:p>
        </p:txBody>
      </p:sp>
      <p:sp>
        <p:nvSpPr>
          <p:cNvPr id="21" name="Text 18"/>
          <p:cNvSpPr txBox="1"/>
          <p:nvPr/>
        </p:nvSpPr>
        <p:spPr>
          <a:xfrm>
            <a:off x="11338560" y="6355080"/>
            <a:ext cx="457200" cy="320040"/>
          </a:xfrm>
          <a:prstGeom prst="rect">
            <a:avLst/>
          </a:prstGeom>
          <a:noFill/>
          <a:ln/>
        </p:spPr>
        <p:txBody>
          <a:bodyPr wrap="square" lIns="0" tIns="0" rIns="0" bIns="0" rtlCol="0" anchor="ctr"/>
          <a:lstStyle/>
          <a:p>
            <a:pPr marL="0" indent="0" algn="r">
              <a:buNone/>
            </a:pPr>
            <a:r>
              <a:rPr lang="en-US" sz="1100" dirty="0">
                <a:solidFill>
                  <a:srgbClr val="4B5A4C"/>
                </a:solidFill>
                <a:latin typeface="Calibri" pitchFamily="34" charset="0"/>
                <a:ea typeface="Calibri" pitchFamily="34" charset="-122"/>
                <a:cs typeface="Calibri" pitchFamily="34" charset="-120"/>
              </a:rPr>
              <a:t>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7315200" cy="365760"/>
          </a:xfrm>
          <a:prstGeom prst="rect">
            <a:avLst/>
          </a:prstGeom>
          <a:noFill/>
          <a:ln/>
        </p:spPr>
        <p:txBody>
          <a:bodyPr wrap="square" lIns="0" tIns="0" rIns="0" bIns="0" rtlCol="0" anchor="ctr"/>
          <a:lstStyle/>
          <a:p>
            <a:pPr marL="0" indent="0">
              <a:buNone/>
            </a:pPr>
            <a:r>
              <a:rPr lang="en-US" sz="1300" b="1" kern="0" spc="200" dirty="0">
                <a:solidFill>
                  <a:srgbClr val="B9781E"/>
                </a:solidFill>
                <a:latin typeface="Calibri" pitchFamily="34" charset="0"/>
                <a:ea typeface="Calibri" pitchFamily="34" charset="-122"/>
                <a:cs typeface="Calibri" pitchFamily="34" charset="-120"/>
              </a:rPr>
              <a:t>HOW IT WORKS</a:t>
            </a:r>
            <a:endParaRPr lang="en-US" sz="1300" dirty="0"/>
          </a:p>
        </p:txBody>
      </p:sp>
      <p:sp>
        <p:nvSpPr>
          <p:cNvPr id="3" name="Text 1"/>
          <p:cNvSpPr txBox="1"/>
          <p:nvPr/>
        </p:nvSpPr>
        <p:spPr>
          <a:xfrm>
            <a:off x="640080" y="868680"/>
            <a:ext cx="10515600" cy="822960"/>
          </a:xfrm>
          <a:prstGeom prst="rect">
            <a:avLst/>
          </a:prstGeom>
          <a:noFill/>
          <a:ln/>
        </p:spPr>
        <p:txBody>
          <a:bodyPr wrap="square" lIns="0" tIns="0" rIns="0" bIns="0" rtlCol="0" anchor="ctr"/>
          <a:lstStyle/>
          <a:p>
            <a:pPr marL="0" indent="0">
              <a:buNone/>
            </a:pPr>
            <a:r>
              <a:rPr lang="en-US" sz="3000" b="1" dirty="0">
                <a:solidFill>
                  <a:srgbClr val="1E2A20"/>
                </a:solidFill>
                <a:latin typeface="Cambria" pitchFamily="34" charset="0"/>
                <a:ea typeface="Cambria" pitchFamily="34" charset="-122"/>
                <a:cs typeface="Cambria" pitchFamily="34" charset="-120"/>
              </a:rPr>
              <a:t>Turning crash dots into a safety signal</a:t>
            </a:r>
            <a:endParaRPr lang="en-US" sz="3000" dirty="0"/>
          </a:p>
        </p:txBody>
      </p:sp>
      <p:sp>
        <p:nvSpPr>
          <p:cNvPr id="4" name="Shape 2"/>
          <p:cNvSpPr/>
          <p:nvPr/>
        </p:nvSpPr>
        <p:spPr>
          <a:xfrm>
            <a:off x="1005840" y="2743200"/>
            <a:ext cx="146304" cy="146304"/>
          </a:xfrm>
          <a:prstGeom prst="ellipse">
            <a:avLst/>
          </a:prstGeom>
          <a:solidFill>
            <a:srgbClr val="2C5F2D"/>
          </a:solidFill>
          <a:ln/>
        </p:spPr>
        <p:txBody>
          <a:bodyPr/>
          <a:lstStyle/>
          <a:p>
            <a:endParaRPr lang="en-US"/>
          </a:p>
        </p:txBody>
      </p:sp>
      <p:sp>
        <p:nvSpPr>
          <p:cNvPr id="5" name="Shape 3"/>
          <p:cNvSpPr/>
          <p:nvPr/>
        </p:nvSpPr>
        <p:spPr>
          <a:xfrm>
            <a:off x="1417320" y="2971800"/>
            <a:ext cx="146304" cy="146304"/>
          </a:xfrm>
          <a:prstGeom prst="ellipse">
            <a:avLst/>
          </a:prstGeom>
          <a:solidFill>
            <a:srgbClr val="2C5F2D"/>
          </a:solidFill>
          <a:ln/>
        </p:spPr>
        <p:txBody>
          <a:bodyPr/>
          <a:lstStyle/>
          <a:p>
            <a:endParaRPr lang="en-US"/>
          </a:p>
        </p:txBody>
      </p:sp>
      <p:sp>
        <p:nvSpPr>
          <p:cNvPr id="6" name="Shape 4"/>
          <p:cNvSpPr/>
          <p:nvPr/>
        </p:nvSpPr>
        <p:spPr>
          <a:xfrm>
            <a:off x="1188720" y="3246120"/>
            <a:ext cx="146304" cy="146304"/>
          </a:xfrm>
          <a:prstGeom prst="ellipse">
            <a:avLst/>
          </a:prstGeom>
          <a:solidFill>
            <a:srgbClr val="2C5F2D"/>
          </a:solidFill>
          <a:ln/>
        </p:spPr>
        <p:txBody>
          <a:bodyPr/>
          <a:lstStyle/>
          <a:p>
            <a:endParaRPr lang="en-US"/>
          </a:p>
        </p:txBody>
      </p:sp>
      <p:sp>
        <p:nvSpPr>
          <p:cNvPr id="7" name="Shape 5"/>
          <p:cNvSpPr/>
          <p:nvPr/>
        </p:nvSpPr>
        <p:spPr>
          <a:xfrm>
            <a:off x="1600200" y="3383280"/>
            <a:ext cx="146304" cy="146304"/>
          </a:xfrm>
          <a:prstGeom prst="ellipse">
            <a:avLst/>
          </a:prstGeom>
          <a:solidFill>
            <a:srgbClr val="2C5F2D"/>
          </a:solidFill>
          <a:ln/>
        </p:spPr>
        <p:txBody>
          <a:bodyPr/>
          <a:lstStyle/>
          <a:p>
            <a:endParaRPr lang="en-US"/>
          </a:p>
        </p:txBody>
      </p:sp>
      <p:sp>
        <p:nvSpPr>
          <p:cNvPr id="8" name="Shape 6"/>
          <p:cNvSpPr/>
          <p:nvPr/>
        </p:nvSpPr>
        <p:spPr>
          <a:xfrm>
            <a:off x="868680" y="3200400"/>
            <a:ext cx="146304" cy="146304"/>
          </a:xfrm>
          <a:prstGeom prst="ellipse">
            <a:avLst/>
          </a:prstGeom>
          <a:solidFill>
            <a:srgbClr val="2C5F2D"/>
          </a:solidFill>
          <a:ln/>
        </p:spPr>
        <p:txBody>
          <a:bodyPr/>
          <a:lstStyle/>
          <a:p>
            <a:endParaRPr lang="en-US"/>
          </a:p>
        </p:txBody>
      </p:sp>
      <p:sp>
        <p:nvSpPr>
          <p:cNvPr id="9" name="Shape 7"/>
          <p:cNvSpPr/>
          <p:nvPr/>
        </p:nvSpPr>
        <p:spPr>
          <a:xfrm>
            <a:off x="685800" y="2514600"/>
            <a:ext cx="1234440" cy="1097280"/>
          </a:xfrm>
          <a:prstGeom prst="ellipse">
            <a:avLst/>
          </a:prstGeom>
          <a:ln w="31750">
            <a:solidFill>
              <a:srgbClr val="E8A33D"/>
            </a:solidFill>
            <a:prstDash val="dash"/>
          </a:ln>
        </p:spPr>
        <p:txBody>
          <a:bodyPr/>
          <a:lstStyle/>
          <a:p>
            <a:endParaRPr lang="en-US"/>
          </a:p>
        </p:txBody>
      </p:sp>
      <p:sp>
        <p:nvSpPr>
          <p:cNvPr id="10" name="Text 8"/>
          <p:cNvSpPr txBox="1"/>
          <p:nvPr/>
        </p:nvSpPr>
        <p:spPr>
          <a:xfrm>
            <a:off x="502920" y="3703320"/>
            <a:ext cx="1645920" cy="548640"/>
          </a:xfrm>
          <a:prstGeom prst="rect">
            <a:avLst/>
          </a:prstGeom>
          <a:noFill/>
          <a:ln/>
        </p:spPr>
        <p:txBody>
          <a:bodyPr wrap="square" lIns="0" tIns="0" rIns="0" bIns="0" rtlCol="0" anchor="ctr"/>
          <a:lstStyle/>
          <a:p>
            <a:pPr marL="0" indent="0" algn="ctr">
              <a:buNone/>
            </a:pPr>
            <a:r>
              <a:rPr lang="en-US" sz="1050" dirty="0">
                <a:solidFill>
                  <a:srgbClr val="4B5A4C"/>
                </a:solidFill>
                <a:latin typeface="Calibri" pitchFamily="34" charset="0"/>
                <a:ea typeface="Calibri" pitchFamily="34" charset="-122"/>
                <a:cs typeface="Calibri" pitchFamily="34" charset="-120"/>
              </a:rPr>
              <a:t>crashes near each other</a:t>
            </a:r>
            <a:endParaRPr lang="en-US" sz="1050" dirty="0"/>
          </a:p>
        </p:txBody>
      </p:sp>
      <p:sp>
        <p:nvSpPr>
          <p:cNvPr id="11" name="Shape 9"/>
          <p:cNvSpPr/>
          <p:nvPr/>
        </p:nvSpPr>
        <p:spPr>
          <a:xfrm>
            <a:off x="2148840" y="3063240"/>
            <a:ext cx="685800" cy="0"/>
          </a:xfrm>
          <a:prstGeom prst="line">
            <a:avLst/>
          </a:prstGeom>
          <a:noFill/>
          <a:ln w="19050">
            <a:solidFill>
              <a:srgbClr val="4B5A4C"/>
            </a:solidFill>
            <a:prstDash val="solid"/>
            <a:tailEnd type="triangle"/>
          </a:ln>
        </p:spPr>
        <p:txBody>
          <a:bodyPr/>
          <a:lstStyle/>
          <a:p>
            <a:endParaRPr lang="en-US"/>
          </a:p>
        </p:txBody>
      </p:sp>
      <p:sp>
        <p:nvSpPr>
          <p:cNvPr id="12" name="Shape 10"/>
          <p:cNvSpPr/>
          <p:nvPr/>
        </p:nvSpPr>
        <p:spPr>
          <a:xfrm>
            <a:off x="2971800" y="2606040"/>
            <a:ext cx="914400" cy="914400"/>
          </a:xfrm>
          <a:prstGeom prst="ellipse">
            <a:avLst/>
          </a:prstGeom>
          <a:solidFill>
            <a:srgbClr val="2C5F2D"/>
          </a:solidFill>
          <a:ln/>
          <a:effectLst>
            <a:outerShdw blurRad="101600" dist="38100" dir="5400000" algn="bl" rotWithShape="0">
              <a:srgbClr val="000000">
                <a:alpha val="18000"/>
              </a:srgbClr>
            </a:outerShdw>
          </a:effectLst>
        </p:spPr>
        <p:txBody>
          <a:bodyPr/>
          <a:lstStyle/>
          <a:p>
            <a:endParaRPr lang="en-US"/>
          </a:p>
        </p:txBody>
      </p:sp>
      <p:sp>
        <p:nvSpPr>
          <p:cNvPr id="13" name="Text 11"/>
          <p:cNvSpPr txBox="1"/>
          <p:nvPr/>
        </p:nvSpPr>
        <p:spPr>
          <a:xfrm>
            <a:off x="2971800" y="2606040"/>
            <a:ext cx="914400" cy="914400"/>
          </a:xfrm>
          <a:prstGeom prst="rect">
            <a:avLst/>
          </a:prstGeom>
          <a:noFill/>
          <a:ln/>
        </p:spPr>
        <p:txBody>
          <a:bodyPr wrap="square" lIns="0" tIns="0" rIns="0" bIns="0" rtlCol="0" anchor="ctr"/>
          <a:lstStyle/>
          <a:p>
            <a:pPr marL="0" indent="0" algn="ctr">
              <a:buNone/>
            </a:pPr>
            <a:r>
              <a:rPr lang="en-US" sz="3000" b="1" dirty="0">
                <a:solidFill>
                  <a:srgbClr val="FFFFFF"/>
                </a:solidFill>
                <a:latin typeface="Cambria" pitchFamily="34" charset="0"/>
                <a:ea typeface="Cambria" pitchFamily="34" charset="-122"/>
                <a:cs typeface="Cambria" pitchFamily="34" charset="-120"/>
              </a:rPr>
              <a:t>1</a:t>
            </a:r>
            <a:endParaRPr lang="en-US" sz="3000" dirty="0"/>
          </a:p>
        </p:txBody>
      </p:sp>
      <p:sp>
        <p:nvSpPr>
          <p:cNvPr id="14" name="Text 12"/>
          <p:cNvSpPr txBox="1"/>
          <p:nvPr/>
        </p:nvSpPr>
        <p:spPr>
          <a:xfrm>
            <a:off x="2697480" y="3703320"/>
            <a:ext cx="1463040" cy="548640"/>
          </a:xfrm>
          <a:prstGeom prst="rect">
            <a:avLst/>
          </a:prstGeom>
          <a:noFill/>
          <a:ln/>
        </p:spPr>
        <p:txBody>
          <a:bodyPr wrap="square" lIns="0" tIns="0" rIns="0" bIns="0" rtlCol="0" anchor="ctr"/>
          <a:lstStyle/>
          <a:p>
            <a:pPr marL="0" indent="0" algn="ctr">
              <a:buNone/>
            </a:pPr>
            <a:r>
              <a:rPr lang="en-US" sz="1050" dirty="0">
                <a:solidFill>
                  <a:srgbClr val="4B5A4C"/>
                </a:solidFill>
                <a:latin typeface="Calibri" pitchFamily="34" charset="0"/>
                <a:ea typeface="Calibri" pitchFamily="34" charset="-122"/>
                <a:cs typeface="Calibri" pitchFamily="34" charset="-120"/>
              </a:rPr>
              <a:t>one corridor</a:t>
            </a:r>
            <a:endParaRPr lang="en-US" sz="1050" dirty="0"/>
          </a:p>
        </p:txBody>
      </p:sp>
      <p:sp>
        <p:nvSpPr>
          <p:cNvPr id="15" name="Shape 13"/>
          <p:cNvSpPr/>
          <p:nvPr/>
        </p:nvSpPr>
        <p:spPr>
          <a:xfrm>
            <a:off x="4846320" y="2423160"/>
            <a:ext cx="502920" cy="502920"/>
          </a:xfrm>
          <a:prstGeom prst="ellipse">
            <a:avLst/>
          </a:prstGeom>
          <a:solidFill>
            <a:srgbClr val="E8A33D"/>
          </a:solidFill>
          <a:ln/>
        </p:spPr>
        <p:txBody>
          <a:bodyPr/>
          <a:lstStyle/>
          <a:p>
            <a:endParaRPr lang="en-US"/>
          </a:p>
        </p:txBody>
      </p:sp>
      <p:sp>
        <p:nvSpPr>
          <p:cNvPr id="16" name="Text 14"/>
          <p:cNvSpPr txBox="1"/>
          <p:nvPr/>
        </p:nvSpPr>
        <p:spPr>
          <a:xfrm>
            <a:off x="4846320" y="242316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17" name="Text 15"/>
          <p:cNvSpPr txBox="1"/>
          <p:nvPr/>
        </p:nvSpPr>
        <p:spPr>
          <a:xfrm>
            <a:off x="5532120" y="2377440"/>
            <a:ext cx="5760720" cy="365760"/>
          </a:xfrm>
          <a:prstGeom prst="rect">
            <a:avLst/>
          </a:prstGeom>
          <a:noFill/>
          <a:ln/>
        </p:spPr>
        <p:txBody>
          <a:bodyPr wrap="square" lIns="0" tIns="0" rIns="0" bIns="0" rtlCol="0" anchor="ctr"/>
          <a:lstStyle/>
          <a:p>
            <a:pPr marL="0" indent="0">
              <a:buNone/>
            </a:pPr>
            <a:r>
              <a:rPr lang="en-US" sz="1500" b="1" dirty="0">
                <a:solidFill>
                  <a:srgbClr val="2C5F2D"/>
                </a:solidFill>
                <a:latin typeface="Cambria" pitchFamily="34" charset="0"/>
                <a:ea typeface="Cambria" pitchFamily="34" charset="-122"/>
                <a:cs typeface="Cambria" pitchFamily="34" charset="-120"/>
              </a:rPr>
              <a:t>Group nearby crashes</a:t>
            </a:r>
            <a:endParaRPr lang="en-US" sz="1500" dirty="0"/>
          </a:p>
        </p:txBody>
      </p:sp>
      <p:sp>
        <p:nvSpPr>
          <p:cNvPr id="18" name="Text 16"/>
          <p:cNvSpPr txBox="1"/>
          <p:nvPr/>
        </p:nvSpPr>
        <p:spPr>
          <a:xfrm>
            <a:off x="5532120" y="2724912"/>
            <a:ext cx="5760720" cy="594360"/>
          </a:xfrm>
          <a:prstGeom prst="rect">
            <a:avLst/>
          </a:prstGeom>
          <a:noFill/>
          <a:ln/>
        </p:spPr>
        <p:txBody>
          <a:bodyPr wrap="square" lIns="0" tIns="0" rIns="0" bIns="0" rtlCol="0" anchor="ctr"/>
          <a:lstStyle/>
          <a:p>
            <a:pPr marL="0" indent="0">
              <a:buNone/>
            </a:pPr>
            <a:r>
              <a:rPr lang="en-US" sz="1250" dirty="0">
                <a:solidFill>
                  <a:srgbClr val="4B5A4C"/>
                </a:solidFill>
                <a:latin typeface="Calibri" pitchFamily="34" charset="0"/>
                <a:ea typeface="Calibri" pitchFamily="34" charset="-122"/>
                <a:cs typeface="Calibri" pitchFamily="34" charset="-120"/>
              </a:rPr>
              <a:t>Crash points within about 2.5 miles of each other are grouped into one road "corridor."</a:t>
            </a:r>
            <a:endParaRPr lang="en-US" sz="1250" dirty="0"/>
          </a:p>
        </p:txBody>
      </p:sp>
      <p:sp>
        <p:nvSpPr>
          <p:cNvPr id="19" name="Shape 17"/>
          <p:cNvSpPr/>
          <p:nvPr/>
        </p:nvSpPr>
        <p:spPr>
          <a:xfrm>
            <a:off x="4846320" y="3355848"/>
            <a:ext cx="502920" cy="502920"/>
          </a:xfrm>
          <a:prstGeom prst="ellipse">
            <a:avLst/>
          </a:prstGeom>
          <a:solidFill>
            <a:srgbClr val="E8A33D"/>
          </a:solidFill>
          <a:ln/>
        </p:spPr>
        <p:txBody>
          <a:bodyPr/>
          <a:lstStyle/>
          <a:p>
            <a:endParaRPr lang="en-US"/>
          </a:p>
        </p:txBody>
      </p:sp>
      <p:sp>
        <p:nvSpPr>
          <p:cNvPr id="20" name="Text 18"/>
          <p:cNvSpPr txBox="1"/>
          <p:nvPr/>
        </p:nvSpPr>
        <p:spPr>
          <a:xfrm>
            <a:off x="4846320" y="3355848"/>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21" name="Text 19"/>
          <p:cNvSpPr txBox="1"/>
          <p:nvPr/>
        </p:nvSpPr>
        <p:spPr>
          <a:xfrm>
            <a:off x="5532120" y="3310128"/>
            <a:ext cx="5760720" cy="365760"/>
          </a:xfrm>
          <a:prstGeom prst="rect">
            <a:avLst/>
          </a:prstGeom>
          <a:noFill/>
          <a:ln/>
        </p:spPr>
        <p:txBody>
          <a:bodyPr wrap="square" lIns="0" tIns="0" rIns="0" bIns="0" rtlCol="0" anchor="ctr"/>
          <a:lstStyle/>
          <a:p>
            <a:pPr marL="0" indent="0">
              <a:buNone/>
            </a:pPr>
            <a:r>
              <a:rPr lang="en-US" sz="1500" b="1" dirty="0">
                <a:solidFill>
                  <a:srgbClr val="2C5F2D"/>
                </a:solidFill>
                <a:latin typeface="Cambria" pitchFamily="34" charset="0"/>
                <a:ea typeface="Cambria" pitchFamily="34" charset="-122"/>
                <a:cs typeface="Cambria" pitchFamily="34" charset="-120"/>
              </a:rPr>
              <a:t>Score the risk</a:t>
            </a:r>
            <a:endParaRPr lang="en-US" sz="1500" dirty="0"/>
          </a:p>
        </p:txBody>
      </p:sp>
      <p:sp>
        <p:nvSpPr>
          <p:cNvPr id="22" name="Text 20"/>
          <p:cNvSpPr txBox="1"/>
          <p:nvPr/>
        </p:nvSpPr>
        <p:spPr>
          <a:xfrm>
            <a:off x="5532120" y="3657600"/>
            <a:ext cx="5760720" cy="594360"/>
          </a:xfrm>
          <a:prstGeom prst="rect">
            <a:avLst/>
          </a:prstGeom>
          <a:noFill/>
          <a:ln/>
        </p:spPr>
        <p:txBody>
          <a:bodyPr wrap="square" lIns="0" tIns="0" rIns="0" bIns="0" rtlCol="0" anchor="ctr"/>
          <a:lstStyle/>
          <a:p>
            <a:pPr marL="0" indent="0">
              <a:buNone/>
            </a:pPr>
            <a:r>
              <a:rPr lang="en-US" sz="1250" dirty="0">
                <a:solidFill>
                  <a:srgbClr val="4B5A4C"/>
                </a:solidFill>
                <a:latin typeface="Calibri" pitchFamily="34" charset="0"/>
                <a:ea typeface="Calibri" pitchFamily="34" charset="-122"/>
                <a:cs typeface="Calibri" pitchFamily="34" charset="-120"/>
              </a:rPr>
              <a:t>A corridor with 3 or more crashes is marked Elevated Risk; fewer is Monitored.</a:t>
            </a:r>
            <a:endParaRPr lang="en-US" sz="1250" dirty="0"/>
          </a:p>
        </p:txBody>
      </p:sp>
      <p:sp>
        <p:nvSpPr>
          <p:cNvPr id="23" name="Shape 21"/>
          <p:cNvSpPr/>
          <p:nvPr/>
        </p:nvSpPr>
        <p:spPr>
          <a:xfrm>
            <a:off x="4846320" y="4288536"/>
            <a:ext cx="502920" cy="502920"/>
          </a:xfrm>
          <a:prstGeom prst="ellipse">
            <a:avLst/>
          </a:prstGeom>
          <a:solidFill>
            <a:srgbClr val="E8A33D"/>
          </a:solidFill>
          <a:ln/>
        </p:spPr>
        <p:txBody>
          <a:bodyPr/>
          <a:lstStyle/>
          <a:p>
            <a:endParaRPr lang="en-US"/>
          </a:p>
        </p:txBody>
      </p:sp>
      <p:sp>
        <p:nvSpPr>
          <p:cNvPr id="24" name="Text 22"/>
          <p:cNvSpPr txBox="1"/>
          <p:nvPr/>
        </p:nvSpPr>
        <p:spPr>
          <a:xfrm>
            <a:off x="4846320" y="4288536"/>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25" name="Text 23"/>
          <p:cNvSpPr txBox="1"/>
          <p:nvPr/>
        </p:nvSpPr>
        <p:spPr>
          <a:xfrm>
            <a:off x="5532120" y="4242816"/>
            <a:ext cx="5760720" cy="365760"/>
          </a:xfrm>
          <a:prstGeom prst="rect">
            <a:avLst/>
          </a:prstGeom>
          <a:noFill/>
          <a:ln/>
        </p:spPr>
        <p:txBody>
          <a:bodyPr wrap="square" lIns="0" tIns="0" rIns="0" bIns="0" rtlCol="0" anchor="ctr"/>
          <a:lstStyle/>
          <a:p>
            <a:pPr marL="0" indent="0">
              <a:buNone/>
            </a:pPr>
            <a:r>
              <a:rPr lang="en-US" sz="1500" b="1" dirty="0">
                <a:solidFill>
                  <a:srgbClr val="2C5F2D"/>
                </a:solidFill>
                <a:latin typeface="Cambria" pitchFamily="34" charset="0"/>
                <a:ea typeface="Cambria" pitchFamily="34" charset="-122"/>
                <a:cs typeface="Cambria" pitchFamily="34" charset="-120"/>
              </a:rPr>
              <a:t>Show a calm message</a:t>
            </a:r>
            <a:endParaRPr lang="en-US" sz="1500" dirty="0"/>
          </a:p>
        </p:txBody>
      </p:sp>
      <p:sp>
        <p:nvSpPr>
          <p:cNvPr id="26" name="Text 24"/>
          <p:cNvSpPr txBox="1"/>
          <p:nvPr/>
        </p:nvSpPr>
        <p:spPr>
          <a:xfrm>
            <a:off x="5532120" y="4590288"/>
            <a:ext cx="5760720" cy="594360"/>
          </a:xfrm>
          <a:prstGeom prst="rect">
            <a:avLst/>
          </a:prstGeom>
          <a:noFill/>
          <a:ln/>
        </p:spPr>
        <p:txBody>
          <a:bodyPr wrap="square" lIns="0" tIns="0" rIns="0" bIns="0" rtlCol="0" anchor="ctr"/>
          <a:lstStyle/>
          <a:p>
            <a:pPr marL="0" indent="0">
              <a:buNone/>
            </a:pPr>
            <a:r>
              <a:rPr lang="en-US" sz="1250" dirty="0">
                <a:solidFill>
                  <a:srgbClr val="4B5A4C"/>
                </a:solidFill>
                <a:latin typeface="Calibri" pitchFamily="34" charset="0"/>
                <a:ea typeface="Calibri" pitchFamily="34" charset="-122"/>
                <a:cs typeface="Calibri" pitchFamily="34" charset="-120"/>
              </a:rPr>
              <a:t>"Pause for Paws — you are entering a known crossing area. Slow down." A pattern, not a promise an animal is there right now.</a:t>
            </a:r>
            <a:endParaRPr lang="en-US" sz="1250" dirty="0"/>
          </a:p>
        </p:txBody>
      </p:sp>
      <p:sp>
        <p:nvSpPr>
          <p:cNvPr id="27" name="Text 25"/>
          <p:cNvSpPr txBox="1"/>
          <p:nvPr/>
        </p:nvSpPr>
        <p:spPr>
          <a:xfrm>
            <a:off x="11338560" y="6355080"/>
            <a:ext cx="457200" cy="320040"/>
          </a:xfrm>
          <a:prstGeom prst="rect">
            <a:avLst/>
          </a:prstGeom>
          <a:noFill/>
          <a:ln/>
        </p:spPr>
        <p:txBody>
          <a:bodyPr wrap="square" lIns="0" tIns="0" rIns="0" bIns="0" rtlCol="0" anchor="ctr"/>
          <a:lstStyle/>
          <a:p>
            <a:pPr marL="0" indent="0" algn="r">
              <a:buNone/>
            </a:pPr>
            <a:r>
              <a:rPr lang="en-US" sz="1100" dirty="0">
                <a:solidFill>
                  <a:srgbClr val="4B5A4C"/>
                </a:solidFill>
                <a:latin typeface="Calibri" pitchFamily="34" charset="0"/>
                <a:ea typeface="Calibri" pitchFamily="34" charset="-122"/>
                <a:cs typeface="Calibri" pitchFamily="34" charset="-120"/>
              </a:rPr>
              <a:t>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7315200" cy="365760"/>
          </a:xfrm>
          <a:prstGeom prst="rect">
            <a:avLst/>
          </a:prstGeom>
          <a:noFill/>
          <a:ln/>
        </p:spPr>
        <p:txBody>
          <a:bodyPr wrap="square" lIns="0" tIns="0" rIns="0" bIns="0" rtlCol="0" anchor="ctr"/>
          <a:lstStyle/>
          <a:p>
            <a:pPr marL="0" indent="0">
              <a:buNone/>
            </a:pPr>
            <a:r>
              <a:rPr lang="en-US" sz="1300" b="1" kern="0" spc="200" dirty="0">
                <a:solidFill>
                  <a:srgbClr val="B9781E"/>
                </a:solidFill>
                <a:latin typeface="Calibri" pitchFamily="34" charset="0"/>
                <a:ea typeface="Calibri" pitchFamily="34" charset="-122"/>
                <a:cs typeface="Calibri" pitchFamily="34" charset="-120"/>
              </a:rPr>
              <a:t>THE PROTOTYPE</a:t>
            </a:r>
            <a:endParaRPr lang="en-US" sz="1300" dirty="0"/>
          </a:p>
        </p:txBody>
      </p:sp>
      <p:sp>
        <p:nvSpPr>
          <p:cNvPr id="3" name="Text 1"/>
          <p:cNvSpPr txBox="1"/>
          <p:nvPr/>
        </p:nvSpPr>
        <p:spPr>
          <a:xfrm>
            <a:off x="640080" y="868680"/>
            <a:ext cx="10515600" cy="822960"/>
          </a:xfrm>
          <a:prstGeom prst="rect">
            <a:avLst/>
          </a:prstGeom>
          <a:noFill/>
          <a:ln/>
        </p:spPr>
        <p:txBody>
          <a:bodyPr wrap="square" lIns="0" tIns="0" rIns="0" bIns="0" rtlCol="0" anchor="ctr"/>
          <a:lstStyle/>
          <a:p>
            <a:pPr marL="0" indent="0">
              <a:buNone/>
            </a:pPr>
            <a:r>
              <a:rPr lang="en-US" sz="3000" b="1" dirty="0">
                <a:solidFill>
                  <a:srgbClr val="1E2A20"/>
                </a:solidFill>
                <a:latin typeface="Cambria" pitchFamily="34" charset="0"/>
                <a:ea typeface="Cambria" pitchFamily="34" charset="-122"/>
                <a:cs typeface="Cambria" pitchFamily="34" charset="-120"/>
              </a:rPr>
              <a:t>What we actually built</a:t>
            </a:r>
            <a:endParaRPr lang="en-US" sz="3000" dirty="0"/>
          </a:p>
        </p:txBody>
      </p:sp>
      <p:sp>
        <p:nvSpPr>
          <p:cNvPr id="4" name="Shape 2"/>
          <p:cNvSpPr/>
          <p:nvPr/>
        </p:nvSpPr>
        <p:spPr>
          <a:xfrm>
            <a:off x="640080" y="1874520"/>
            <a:ext cx="5029200" cy="1920240"/>
          </a:xfrm>
          <a:prstGeom prst="roundRect">
            <a:avLst>
              <a:gd name="adj" fmla="val 5714"/>
            </a:avLst>
          </a:prstGeom>
          <a:solidFill>
            <a:srgbClr val="17331F"/>
          </a:solidFill>
          <a:ln/>
          <a:effectLst>
            <a:outerShdw blurRad="101600" dist="38100" dir="5400000" algn="bl" rotWithShape="0">
              <a:srgbClr val="000000">
                <a:alpha val="18000"/>
              </a:srgbClr>
            </a:outerShdw>
          </a:effectLst>
        </p:spPr>
        <p:txBody>
          <a:bodyPr/>
          <a:lstStyle/>
          <a:p>
            <a:endParaRPr lang="en-US"/>
          </a:p>
        </p:txBody>
      </p:sp>
      <p:sp>
        <p:nvSpPr>
          <p:cNvPr id="5" name="Shape 3"/>
          <p:cNvSpPr/>
          <p:nvPr/>
        </p:nvSpPr>
        <p:spPr>
          <a:xfrm>
            <a:off x="868680" y="2103120"/>
            <a:ext cx="640080" cy="640080"/>
          </a:xfrm>
          <a:prstGeom prst="ellipse">
            <a:avLst/>
          </a:prstGeom>
          <a:solidFill>
            <a:srgbClr val="E8A33D"/>
          </a:solidFill>
          <a:ln/>
          <a:effectLst>
            <a:outerShdw blurRad="101600" dist="38100" dir="5400000" algn="bl" rotWithShape="0">
              <a:srgbClr val="000000">
                <a:alpha val="18000"/>
              </a:srgbClr>
            </a:outerShdw>
          </a:effectLst>
        </p:spPr>
        <p:txBody>
          <a:bodyPr/>
          <a:lstStyle/>
          <a:p>
            <a:endParaRPr lang="en-US"/>
          </a:p>
        </p:txBody>
      </p:sp>
      <p:pic>
        <p:nvPicPr>
          <p:cNvPr id="6" name="Image 0" descr="preencoded.png"/>
          <p:cNvPicPr>
            <a:picLocks noChangeAspect="1"/>
          </p:cNvPicPr>
          <p:nvPr/>
        </p:nvPicPr>
        <p:blipFill>
          <a:blip r:embed="rId3"/>
          <a:stretch>
            <a:fillRect/>
          </a:stretch>
        </p:blipFill>
        <p:spPr>
          <a:xfrm>
            <a:off x="951890" y="2186330"/>
            <a:ext cx="473659" cy="473659"/>
          </a:xfrm>
          <a:prstGeom prst="rect">
            <a:avLst/>
          </a:prstGeom>
        </p:spPr>
      </p:pic>
      <p:sp>
        <p:nvSpPr>
          <p:cNvPr id="7" name="Text 4"/>
          <p:cNvSpPr txBox="1"/>
          <p:nvPr/>
        </p:nvSpPr>
        <p:spPr>
          <a:xfrm>
            <a:off x="1645920" y="2148840"/>
            <a:ext cx="3840480" cy="365760"/>
          </a:xfrm>
          <a:prstGeom prst="rect">
            <a:avLst/>
          </a:prstGeom>
          <a:noFill/>
          <a:ln/>
        </p:spPr>
        <p:txBody>
          <a:bodyPr wrap="square" lIns="0" tIns="0" rIns="0" bIns="0"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Pause for Paws</a:t>
            </a:r>
            <a:endParaRPr lang="en-US" sz="1700" dirty="0"/>
          </a:p>
        </p:txBody>
      </p:sp>
      <p:sp>
        <p:nvSpPr>
          <p:cNvPr id="8" name="Text 5"/>
          <p:cNvSpPr txBox="1"/>
          <p:nvPr/>
        </p:nvSpPr>
        <p:spPr>
          <a:xfrm>
            <a:off x="1645920" y="2542032"/>
            <a:ext cx="3840480" cy="1005840"/>
          </a:xfrm>
          <a:prstGeom prst="rect">
            <a:avLst/>
          </a:prstGeom>
          <a:noFill/>
          <a:ln/>
        </p:spPr>
        <p:txBody>
          <a:bodyPr wrap="square" lIns="0" tIns="0" rIns="0" bIns="0" rtlCol="0" anchor="ctr"/>
          <a:lstStyle/>
          <a:p>
            <a:pPr marL="0" indent="0">
              <a:buNone/>
            </a:pPr>
            <a:r>
              <a:rPr lang="en-US" sz="1250" dirty="0">
                <a:solidFill>
                  <a:srgbClr val="D9E6CC"/>
                </a:solidFill>
                <a:latin typeface="Calibri" pitchFamily="34" charset="0"/>
                <a:ea typeface="Calibri" pitchFamily="34" charset="-122"/>
                <a:cs typeface="Calibri" pitchFamily="34" charset="-120"/>
              </a:rPr>
              <a:t>You are entering a known wildlife crossing corridor. Slow down and watch both shoulders.</a:t>
            </a:r>
            <a:endParaRPr lang="en-US" sz="1250" dirty="0"/>
          </a:p>
        </p:txBody>
      </p:sp>
      <p:sp>
        <p:nvSpPr>
          <p:cNvPr id="9" name="Text 6"/>
          <p:cNvSpPr txBox="1"/>
          <p:nvPr/>
        </p:nvSpPr>
        <p:spPr>
          <a:xfrm>
            <a:off x="640080" y="3931920"/>
            <a:ext cx="5029200" cy="320040"/>
          </a:xfrm>
          <a:prstGeom prst="rect">
            <a:avLst/>
          </a:prstGeom>
          <a:noFill/>
          <a:ln/>
        </p:spPr>
        <p:txBody>
          <a:bodyPr wrap="square" lIns="0" tIns="0" rIns="0" bIns="0" rtlCol="0" anchor="ctr"/>
          <a:lstStyle/>
          <a:p>
            <a:pPr marL="0" indent="0">
              <a:buNone/>
            </a:pPr>
            <a:r>
              <a:rPr lang="en-US" sz="1100" i="1" dirty="0">
                <a:solidFill>
                  <a:srgbClr val="4B5A4C"/>
                </a:solidFill>
                <a:latin typeface="Calibri" pitchFamily="34" charset="0"/>
                <a:ea typeface="Calibri" pitchFamily="34" charset="-122"/>
                <a:cs typeface="Calibri" pitchFamily="34" charset="-120"/>
              </a:rPr>
              <a:t>— live alert preview, shown on the map screen</a:t>
            </a:r>
            <a:endParaRPr lang="en-US" sz="1100" dirty="0"/>
          </a:p>
        </p:txBody>
      </p:sp>
      <p:sp>
        <p:nvSpPr>
          <p:cNvPr id="10" name="Shape 7"/>
          <p:cNvSpPr/>
          <p:nvPr/>
        </p:nvSpPr>
        <p:spPr>
          <a:xfrm>
            <a:off x="6126480" y="1828800"/>
            <a:ext cx="566928" cy="566928"/>
          </a:xfrm>
          <a:prstGeom prst="ellipse">
            <a:avLst/>
          </a:prstGeom>
          <a:solidFill>
            <a:srgbClr val="2C5F2D"/>
          </a:solidFill>
          <a:ln/>
          <a:effectLst>
            <a:outerShdw blurRad="101600" dist="38100" dir="5400000" algn="bl" rotWithShape="0">
              <a:srgbClr val="000000">
                <a:alpha val="18000"/>
              </a:srgbClr>
            </a:outerShdw>
          </a:effectLst>
        </p:spPr>
        <p:txBody>
          <a:bodyPr/>
          <a:lstStyle/>
          <a:p>
            <a:endParaRPr lang="en-US"/>
          </a:p>
        </p:txBody>
      </p:sp>
      <p:pic>
        <p:nvPicPr>
          <p:cNvPr id="11" name="Image 1" descr="preencoded.png"/>
          <p:cNvPicPr>
            <a:picLocks noChangeAspect="1"/>
          </p:cNvPicPr>
          <p:nvPr/>
        </p:nvPicPr>
        <p:blipFill>
          <a:blip r:embed="rId4"/>
          <a:stretch>
            <a:fillRect/>
          </a:stretch>
        </p:blipFill>
        <p:spPr>
          <a:xfrm>
            <a:off x="6200181" y="1902501"/>
            <a:ext cx="419527" cy="419527"/>
          </a:xfrm>
          <a:prstGeom prst="rect">
            <a:avLst/>
          </a:prstGeom>
        </p:spPr>
      </p:pic>
      <p:sp>
        <p:nvSpPr>
          <p:cNvPr id="12" name="Text 8"/>
          <p:cNvSpPr txBox="1"/>
          <p:nvPr/>
        </p:nvSpPr>
        <p:spPr>
          <a:xfrm>
            <a:off x="6858000" y="1801368"/>
            <a:ext cx="4572000" cy="320040"/>
          </a:xfrm>
          <a:prstGeom prst="rect">
            <a:avLst/>
          </a:prstGeom>
          <a:noFill/>
          <a:ln/>
        </p:spPr>
        <p:txBody>
          <a:bodyPr wrap="square" lIns="0" tIns="0" rIns="0" bIns="0" rtlCol="0" anchor="ctr"/>
          <a:lstStyle/>
          <a:p>
            <a:pPr marL="0" indent="0">
              <a:buNone/>
            </a:pPr>
            <a:r>
              <a:rPr lang="en-US" sz="1400" b="1" dirty="0">
                <a:solidFill>
                  <a:srgbClr val="2C5F2D"/>
                </a:solidFill>
                <a:latin typeface="Cambria" pitchFamily="34" charset="0"/>
                <a:ea typeface="Cambria" pitchFamily="34" charset="-122"/>
                <a:cs typeface="Cambria" pitchFamily="34" charset="-120"/>
              </a:rPr>
              <a:t>Real data</a:t>
            </a:r>
            <a:endParaRPr lang="en-US" sz="1400" dirty="0"/>
          </a:p>
        </p:txBody>
      </p:sp>
      <p:sp>
        <p:nvSpPr>
          <p:cNvPr id="13" name="Text 9"/>
          <p:cNvSpPr txBox="1"/>
          <p:nvPr/>
        </p:nvSpPr>
        <p:spPr>
          <a:xfrm>
            <a:off x="6858000" y="2121408"/>
            <a:ext cx="4572000" cy="411480"/>
          </a:xfrm>
          <a:prstGeom prst="rect">
            <a:avLst/>
          </a:prstGeom>
          <a:noFill/>
          <a:ln/>
        </p:spPr>
        <p:txBody>
          <a:bodyPr wrap="square" lIns="0" tIns="0" rIns="0" bIns="0" rtlCol="0" anchor="ctr"/>
          <a:lstStyle/>
          <a:p>
            <a:pPr marL="0" indent="0">
              <a:buNone/>
            </a:pPr>
            <a:r>
              <a:rPr lang="en-US" sz="1200" dirty="0">
                <a:solidFill>
                  <a:srgbClr val="4B5A4C"/>
                </a:solidFill>
                <a:latin typeface="Calibri" pitchFamily="34" charset="0"/>
                <a:ea typeface="Calibri" pitchFamily="34" charset="-122"/>
                <a:cs typeface="Calibri" pitchFamily="34" charset="-120"/>
              </a:rPr>
              <a:t>Iowa DOT ICAT 2025 crash records — our pilot region's real numbers.</a:t>
            </a:r>
            <a:endParaRPr lang="en-US" sz="1200" dirty="0"/>
          </a:p>
        </p:txBody>
      </p:sp>
      <p:sp>
        <p:nvSpPr>
          <p:cNvPr id="14" name="Shape 10"/>
          <p:cNvSpPr/>
          <p:nvPr/>
        </p:nvSpPr>
        <p:spPr>
          <a:xfrm>
            <a:off x="6126480" y="2606040"/>
            <a:ext cx="566928" cy="566928"/>
          </a:xfrm>
          <a:prstGeom prst="ellipse">
            <a:avLst/>
          </a:prstGeom>
          <a:solidFill>
            <a:srgbClr val="2C5F2D"/>
          </a:solidFill>
          <a:ln/>
          <a:effectLst>
            <a:outerShdw blurRad="101600" dist="38100" dir="5400000" algn="bl" rotWithShape="0">
              <a:srgbClr val="000000">
                <a:alpha val="18000"/>
              </a:srgbClr>
            </a:outerShdw>
          </a:effectLst>
        </p:spPr>
        <p:txBody>
          <a:bodyPr/>
          <a:lstStyle/>
          <a:p>
            <a:endParaRPr lang="en-US"/>
          </a:p>
        </p:txBody>
      </p:sp>
      <p:pic>
        <p:nvPicPr>
          <p:cNvPr id="15" name="Image 2" descr="preencoded.png"/>
          <p:cNvPicPr>
            <a:picLocks noChangeAspect="1"/>
          </p:cNvPicPr>
          <p:nvPr/>
        </p:nvPicPr>
        <p:blipFill>
          <a:blip r:embed="rId5"/>
          <a:stretch>
            <a:fillRect/>
          </a:stretch>
        </p:blipFill>
        <p:spPr>
          <a:xfrm>
            <a:off x="6200181" y="2679741"/>
            <a:ext cx="419527" cy="419527"/>
          </a:xfrm>
          <a:prstGeom prst="rect">
            <a:avLst/>
          </a:prstGeom>
        </p:spPr>
      </p:pic>
      <p:sp>
        <p:nvSpPr>
          <p:cNvPr id="16" name="Text 11"/>
          <p:cNvSpPr txBox="1"/>
          <p:nvPr/>
        </p:nvSpPr>
        <p:spPr>
          <a:xfrm>
            <a:off x="6858000" y="2578608"/>
            <a:ext cx="4572000" cy="320040"/>
          </a:xfrm>
          <a:prstGeom prst="rect">
            <a:avLst/>
          </a:prstGeom>
          <a:noFill/>
          <a:ln/>
        </p:spPr>
        <p:txBody>
          <a:bodyPr wrap="square" lIns="0" tIns="0" rIns="0" bIns="0" rtlCol="0" anchor="ctr"/>
          <a:lstStyle/>
          <a:p>
            <a:pPr marL="0" indent="0">
              <a:buNone/>
            </a:pPr>
            <a:r>
              <a:rPr lang="en-US" sz="1400" b="1" dirty="0">
                <a:solidFill>
                  <a:srgbClr val="2C5F2D"/>
                </a:solidFill>
                <a:latin typeface="Cambria" pitchFamily="34" charset="0"/>
                <a:ea typeface="Cambria" pitchFamily="34" charset="-122"/>
                <a:cs typeface="Cambria" pitchFamily="34" charset="-120"/>
              </a:rPr>
              <a:t>Google Maps</a:t>
            </a:r>
            <a:endParaRPr lang="en-US" sz="1400" dirty="0"/>
          </a:p>
        </p:txBody>
      </p:sp>
      <p:sp>
        <p:nvSpPr>
          <p:cNvPr id="17" name="Text 12"/>
          <p:cNvSpPr txBox="1"/>
          <p:nvPr/>
        </p:nvSpPr>
        <p:spPr>
          <a:xfrm>
            <a:off x="6858000" y="2898648"/>
            <a:ext cx="4572000" cy="411480"/>
          </a:xfrm>
          <a:prstGeom prst="rect">
            <a:avLst/>
          </a:prstGeom>
          <a:noFill/>
          <a:ln/>
        </p:spPr>
        <p:txBody>
          <a:bodyPr wrap="square" lIns="0" tIns="0" rIns="0" bIns="0" rtlCol="0" anchor="ctr"/>
          <a:lstStyle/>
          <a:p>
            <a:pPr marL="0" indent="0">
              <a:buNone/>
            </a:pPr>
            <a:r>
              <a:rPr lang="en-US" sz="1200" dirty="0">
                <a:solidFill>
                  <a:srgbClr val="4B5A4C"/>
                </a:solidFill>
                <a:latin typeface="Calibri" pitchFamily="34" charset="0"/>
                <a:ea typeface="Calibri" pitchFamily="34" charset="-122"/>
                <a:cs typeface="Calibri" pitchFamily="34" charset="-120"/>
              </a:rPr>
              <a:t>Shows three monitored corridors on a real map.</a:t>
            </a:r>
            <a:endParaRPr lang="en-US" sz="1200" dirty="0"/>
          </a:p>
        </p:txBody>
      </p:sp>
      <p:sp>
        <p:nvSpPr>
          <p:cNvPr id="18" name="Shape 13"/>
          <p:cNvSpPr/>
          <p:nvPr/>
        </p:nvSpPr>
        <p:spPr>
          <a:xfrm>
            <a:off x="6126480" y="3383280"/>
            <a:ext cx="566928" cy="566928"/>
          </a:xfrm>
          <a:prstGeom prst="ellipse">
            <a:avLst/>
          </a:prstGeom>
          <a:solidFill>
            <a:srgbClr val="2C5F2D"/>
          </a:solidFill>
          <a:ln/>
          <a:effectLst>
            <a:outerShdw blurRad="101600" dist="38100" dir="5400000" algn="bl" rotWithShape="0">
              <a:srgbClr val="000000">
                <a:alpha val="18000"/>
              </a:srgbClr>
            </a:outerShdw>
          </a:effectLst>
        </p:spPr>
        <p:txBody>
          <a:bodyPr/>
          <a:lstStyle/>
          <a:p>
            <a:endParaRPr lang="en-US"/>
          </a:p>
        </p:txBody>
      </p:sp>
      <p:pic>
        <p:nvPicPr>
          <p:cNvPr id="19" name="Image 3" descr="preencoded.png"/>
          <p:cNvPicPr>
            <a:picLocks noChangeAspect="1"/>
          </p:cNvPicPr>
          <p:nvPr/>
        </p:nvPicPr>
        <p:blipFill>
          <a:blip r:embed="rId6"/>
          <a:stretch>
            <a:fillRect/>
          </a:stretch>
        </p:blipFill>
        <p:spPr>
          <a:xfrm>
            <a:off x="6200181" y="3456981"/>
            <a:ext cx="419527" cy="419527"/>
          </a:xfrm>
          <a:prstGeom prst="rect">
            <a:avLst/>
          </a:prstGeom>
        </p:spPr>
      </p:pic>
      <p:sp>
        <p:nvSpPr>
          <p:cNvPr id="20" name="Text 14"/>
          <p:cNvSpPr txBox="1"/>
          <p:nvPr/>
        </p:nvSpPr>
        <p:spPr>
          <a:xfrm>
            <a:off x="6858000" y="3355848"/>
            <a:ext cx="4572000" cy="320040"/>
          </a:xfrm>
          <a:prstGeom prst="rect">
            <a:avLst/>
          </a:prstGeom>
          <a:noFill/>
          <a:ln/>
        </p:spPr>
        <p:txBody>
          <a:bodyPr wrap="square" lIns="0" tIns="0" rIns="0" bIns="0" rtlCol="0" anchor="ctr"/>
          <a:lstStyle/>
          <a:p>
            <a:pPr marL="0" indent="0">
              <a:buNone/>
            </a:pPr>
            <a:r>
              <a:rPr lang="en-US" sz="1400" b="1" dirty="0">
                <a:solidFill>
                  <a:srgbClr val="2C5F2D"/>
                </a:solidFill>
                <a:latin typeface="Cambria" pitchFamily="34" charset="0"/>
                <a:ea typeface="Cambria" pitchFamily="34" charset="-122"/>
                <a:cs typeface="Cambria" pitchFamily="34" charset="-120"/>
              </a:rPr>
              <a:t>Python server</a:t>
            </a:r>
            <a:endParaRPr lang="en-US" sz="1400" dirty="0"/>
          </a:p>
        </p:txBody>
      </p:sp>
      <p:sp>
        <p:nvSpPr>
          <p:cNvPr id="21" name="Text 15"/>
          <p:cNvSpPr txBox="1"/>
          <p:nvPr/>
        </p:nvSpPr>
        <p:spPr>
          <a:xfrm>
            <a:off x="6858000" y="3675888"/>
            <a:ext cx="4572000" cy="411480"/>
          </a:xfrm>
          <a:prstGeom prst="rect">
            <a:avLst/>
          </a:prstGeom>
          <a:noFill/>
          <a:ln/>
        </p:spPr>
        <p:txBody>
          <a:bodyPr wrap="square" lIns="0" tIns="0" rIns="0" bIns="0" rtlCol="0" anchor="ctr"/>
          <a:lstStyle/>
          <a:p>
            <a:pPr marL="0" indent="0">
              <a:buNone/>
            </a:pPr>
            <a:r>
              <a:rPr lang="en-US" sz="1200" dirty="0">
                <a:solidFill>
                  <a:srgbClr val="4B5A4C"/>
                </a:solidFill>
                <a:latin typeface="Calibri" pitchFamily="34" charset="0"/>
                <a:ea typeface="Calibri" pitchFamily="34" charset="-122"/>
                <a:cs typeface="Calibri" pitchFamily="34" charset="-120"/>
              </a:rPr>
              <a:t>Groups crashes and scores risk, live, in the browser.</a:t>
            </a:r>
            <a:endParaRPr lang="en-US" sz="1200" dirty="0"/>
          </a:p>
        </p:txBody>
      </p:sp>
      <p:sp>
        <p:nvSpPr>
          <p:cNvPr id="22" name="Shape 16"/>
          <p:cNvSpPr/>
          <p:nvPr/>
        </p:nvSpPr>
        <p:spPr>
          <a:xfrm>
            <a:off x="640080" y="4526280"/>
            <a:ext cx="10881360" cy="1417320"/>
          </a:xfrm>
          <a:prstGeom prst="roundRect">
            <a:avLst>
              <a:gd name="adj" fmla="val 7742"/>
            </a:avLst>
          </a:prstGeom>
          <a:solidFill>
            <a:srgbClr val="EEF3EA"/>
          </a:solidFill>
          <a:ln/>
        </p:spPr>
        <p:txBody>
          <a:bodyPr/>
          <a:lstStyle/>
          <a:p>
            <a:endParaRPr lang="en-US"/>
          </a:p>
        </p:txBody>
      </p:sp>
      <p:sp>
        <p:nvSpPr>
          <p:cNvPr id="23" name="Text 17"/>
          <p:cNvSpPr txBox="1"/>
          <p:nvPr/>
        </p:nvSpPr>
        <p:spPr>
          <a:xfrm>
            <a:off x="914400" y="4526280"/>
            <a:ext cx="10332720" cy="1417320"/>
          </a:xfrm>
          <a:prstGeom prst="rect">
            <a:avLst/>
          </a:prstGeom>
          <a:noFill/>
          <a:ln/>
        </p:spPr>
        <p:txBody>
          <a:bodyPr wrap="square" lIns="0" tIns="0" rIns="0" bIns="0" rtlCol="0" anchor="ctr"/>
          <a:lstStyle/>
          <a:p>
            <a:pPr marL="0" indent="0">
              <a:buNone/>
            </a:pPr>
            <a:r>
              <a:rPr lang="en-US" sz="1350" i="1" dirty="0">
                <a:solidFill>
                  <a:srgbClr val="1E2A20"/>
                </a:solidFill>
                <a:latin typeface="Calibri" pitchFamily="34" charset="0"/>
                <a:ea typeface="Calibri" pitchFamily="34" charset="-122"/>
                <a:cs typeface="Calibri" pitchFamily="34" charset="-120"/>
              </a:rPr>
              <a:t>We started with practice (synthetic) data to build the logic safely, then swapped in real Iowa crash data once the pattern-matching worked. We never confuse the two, and we never claim an animal is on the road right now — only that this stretch of road has a real history.</a:t>
            </a:r>
            <a:endParaRPr lang="en-US" sz="1350" dirty="0"/>
          </a:p>
        </p:txBody>
      </p:sp>
      <p:sp>
        <p:nvSpPr>
          <p:cNvPr id="24" name="Text 18"/>
          <p:cNvSpPr txBox="1"/>
          <p:nvPr/>
        </p:nvSpPr>
        <p:spPr>
          <a:xfrm>
            <a:off x="11338560" y="6355080"/>
            <a:ext cx="457200" cy="320040"/>
          </a:xfrm>
          <a:prstGeom prst="rect">
            <a:avLst/>
          </a:prstGeom>
          <a:noFill/>
          <a:ln/>
        </p:spPr>
        <p:txBody>
          <a:bodyPr wrap="square" lIns="0" tIns="0" rIns="0" bIns="0" rtlCol="0" anchor="ctr"/>
          <a:lstStyle/>
          <a:p>
            <a:pPr marL="0" indent="0" algn="r">
              <a:buNone/>
            </a:pPr>
            <a:r>
              <a:rPr lang="en-US" sz="1100" dirty="0">
                <a:solidFill>
                  <a:srgbClr val="4B5A4C"/>
                </a:solidFill>
                <a:latin typeface="Calibri" pitchFamily="34" charset="0"/>
                <a:ea typeface="Calibri" pitchFamily="34" charset="-122"/>
                <a:cs typeface="Calibri" pitchFamily="34" charset="-120"/>
              </a:rPr>
              <a:t>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7315200" cy="365760"/>
          </a:xfrm>
          <a:prstGeom prst="rect">
            <a:avLst/>
          </a:prstGeom>
          <a:noFill/>
          <a:ln/>
        </p:spPr>
        <p:txBody>
          <a:bodyPr wrap="square" lIns="0" tIns="0" rIns="0" bIns="0" rtlCol="0" anchor="ctr"/>
          <a:lstStyle/>
          <a:p>
            <a:pPr marL="0" indent="0">
              <a:buNone/>
            </a:pPr>
            <a:r>
              <a:rPr lang="en-US" sz="1300" b="1" kern="0" spc="200" dirty="0">
                <a:solidFill>
                  <a:srgbClr val="B9781E"/>
                </a:solidFill>
                <a:latin typeface="Calibri" pitchFamily="34" charset="0"/>
                <a:ea typeface="Calibri" pitchFamily="34" charset="-122"/>
                <a:cs typeface="Calibri" pitchFamily="34" charset="-120"/>
              </a:rPr>
              <a:t>REACHING REAL DRIVERS</a:t>
            </a:r>
            <a:endParaRPr lang="en-US" sz="1300" dirty="0"/>
          </a:p>
        </p:txBody>
      </p:sp>
      <p:sp>
        <p:nvSpPr>
          <p:cNvPr id="3" name="Text 1"/>
          <p:cNvSpPr txBox="1"/>
          <p:nvPr/>
        </p:nvSpPr>
        <p:spPr>
          <a:xfrm>
            <a:off x="640080" y="868680"/>
            <a:ext cx="10515600" cy="822960"/>
          </a:xfrm>
          <a:prstGeom prst="rect">
            <a:avLst/>
          </a:prstGeom>
          <a:noFill/>
          <a:ln/>
        </p:spPr>
        <p:txBody>
          <a:bodyPr wrap="square" lIns="0" tIns="0" rIns="0" bIns="0" rtlCol="0" anchor="ctr"/>
          <a:lstStyle/>
          <a:p>
            <a:pPr marL="0" indent="0">
              <a:buNone/>
            </a:pPr>
            <a:r>
              <a:rPr lang="en-US" sz="2700" b="1" dirty="0">
                <a:solidFill>
                  <a:srgbClr val="1E2A20"/>
                </a:solidFill>
                <a:latin typeface="Cambria" pitchFamily="34" charset="0"/>
                <a:ea typeface="Cambria" pitchFamily="34" charset="-122"/>
                <a:cs typeface="Cambria" pitchFamily="34" charset="-120"/>
              </a:rPr>
              <a:t>Why we’re not building "just another app"</a:t>
            </a:r>
            <a:endParaRPr lang="en-US" sz="2700" dirty="0"/>
          </a:p>
        </p:txBody>
      </p:sp>
      <p:sp>
        <p:nvSpPr>
          <p:cNvPr id="4" name="Shape 2"/>
          <p:cNvSpPr/>
          <p:nvPr/>
        </p:nvSpPr>
        <p:spPr>
          <a:xfrm>
            <a:off x="640080" y="1828800"/>
            <a:ext cx="5120640" cy="3566160"/>
          </a:xfrm>
          <a:prstGeom prst="roundRect">
            <a:avLst>
              <a:gd name="adj" fmla="val 3077"/>
            </a:avLst>
          </a:prstGeom>
          <a:solidFill>
            <a:srgbClr val="EEF3EA"/>
          </a:solidFill>
          <a:ln/>
        </p:spPr>
        <p:txBody>
          <a:bodyPr/>
          <a:lstStyle/>
          <a:p>
            <a:endParaRPr lang="en-US"/>
          </a:p>
        </p:txBody>
      </p:sp>
      <p:sp>
        <p:nvSpPr>
          <p:cNvPr id="5" name="Shape 3"/>
          <p:cNvSpPr/>
          <p:nvPr/>
        </p:nvSpPr>
        <p:spPr>
          <a:xfrm>
            <a:off x="914400" y="2103120"/>
            <a:ext cx="685800" cy="685800"/>
          </a:xfrm>
          <a:prstGeom prst="ellipse">
            <a:avLst/>
          </a:prstGeom>
          <a:solidFill>
            <a:srgbClr val="B23A2E"/>
          </a:solidFill>
          <a:ln/>
          <a:effectLst>
            <a:outerShdw blurRad="101600" dist="38100" dir="5400000" algn="bl" rotWithShape="0">
              <a:srgbClr val="000000">
                <a:alpha val="18000"/>
              </a:srgbClr>
            </a:outerShdw>
          </a:effectLst>
        </p:spPr>
        <p:txBody>
          <a:bodyPr/>
          <a:lstStyle/>
          <a:p>
            <a:endParaRPr lang="en-US"/>
          </a:p>
        </p:txBody>
      </p:sp>
      <p:pic>
        <p:nvPicPr>
          <p:cNvPr id="6" name="Image 0" descr="preencoded.png"/>
          <p:cNvPicPr>
            <a:picLocks noChangeAspect="1"/>
          </p:cNvPicPr>
          <p:nvPr/>
        </p:nvPicPr>
        <p:blipFill>
          <a:blip r:embed="rId3"/>
          <a:stretch>
            <a:fillRect/>
          </a:stretch>
        </p:blipFill>
        <p:spPr>
          <a:xfrm>
            <a:off x="1003554" y="2192274"/>
            <a:ext cx="507492" cy="507492"/>
          </a:xfrm>
          <a:prstGeom prst="rect">
            <a:avLst/>
          </a:prstGeom>
        </p:spPr>
      </p:pic>
      <p:sp>
        <p:nvSpPr>
          <p:cNvPr id="7" name="Text 4"/>
          <p:cNvSpPr txBox="1"/>
          <p:nvPr/>
        </p:nvSpPr>
        <p:spPr>
          <a:xfrm>
            <a:off x="1783080" y="2194560"/>
            <a:ext cx="3749040" cy="548640"/>
          </a:xfrm>
          <a:prstGeom prst="rect">
            <a:avLst/>
          </a:prstGeom>
          <a:noFill/>
          <a:ln/>
        </p:spPr>
        <p:txBody>
          <a:bodyPr wrap="square" lIns="0" tIns="0" rIns="0" bIns="0" rtlCol="0" anchor="ctr"/>
          <a:lstStyle/>
          <a:p>
            <a:pPr marL="0" indent="0">
              <a:buNone/>
            </a:pPr>
            <a:r>
              <a:rPr lang="en-US" sz="1500" b="1" dirty="0">
                <a:solidFill>
                  <a:srgbClr val="1E2A20"/>
                </a:solidFill>
                <a:latin typeface="Cambria" pitchFamily="34" charset="0"/>
                <a:ea typeface="Cambria" pitchFamily="34" charset="-122"/>
                <a:cs typeface="Cambria" pitchFamily="34" charset="-120"/>
              </a:rPr>
              <a:t>The problem with our own app</a:t>
            </a:r>
            <a:endParaRPr lang="en-US" sz="1500" dirty="0"/>
          </a:p>
        </p:txBody>
      </p:sp>
      <p:sp>
        <p:nvSpPr>
          <p:cNvPr id="8" name="Text 5"/>
          <p:cNvSpPr txBox="1"/>
          <p:nvPr/>
        </p:nvSpPr>
        <p:spPr>
          <a:xfrm>
            <a:off x="914400" y="2880360"/>
            <a:ext cx="4480560" cy="2377440"/>
          </a:xfrm>
          <a:prstGeom prst="rect">
            <a:avLst/>
          </a:prstGeom>
          <a:noFill/>
          <a:ln/>
        </p:spPr>
        <p:txBody>
          <a:bodyPr wrap="square" lIns="0" tIns="0" rIns="0" bIns="0" rtlCol="0" anchor="ctr"/>
          <a:lstStyle/>
          <a:p>
            <a:pPr marL="0" indent="0">
              <a:buNone/>
            </a:pPr>
            <a:r>
              <a:rPr lang="en-US" sz="1300" dirty="0">
                <a:solidFill>
                  <a:srgbClr val="4B5A4C"/>
                </a:solidFill>
                <a:latin typeface="Calibri" pitchFamily="34" charset="0"/>
                <a:ea typeface="Calibri" pitchFamily="34" charset="-122"/>
                <a:cs typeface="Calibri" pitchFamily="34" charset="-120"/>
              </a:rPr>
              <a:t>Drivers already use Google Maps, Apple Maps, or Waze. Nobody is going to open a fourth map app while driving — that would make the road less safe, not more.</a:t>
            </a:r>
            <a:endParaRPr lang="en-US" sz="1300" dirty="0"/>
          </a:p>
        </p:txBody>
      </p:sp>
      <p:sp>
        <p:nvSpPr>
          <p:cNvPr id="9" name="Shape 6"/>
          <p:cNvSpPr/>
          <p:nvPr/>
        </p:nvSpPr>
        <p:spPr>
          <a:xfrm>
            <a:off x="5989320" y="1828800"/>
            <a:ext cx="5532120" cy="3566160"/>
          </a:xfrm>
          <a:prstGeom prst="roundRect">
            <a:avLst>
              <a:gd name="adj" fmla="val 3077"/>
            </a:avLst>
          </a:prstGeom>
          <a:solidFill>
            <a:srgbClr val="17331F"/>
          </a:solidFill>
          <a:ln/>
          <a:effectLst>
            <a:outerShdw blurRad="101600" dist="38100" dir="5400000" algn="bl" rotWithShape="0">
              <a:srgbClr val="000000">
                <a:alpha val="18000"/>
              </a:srgbClr>
            </a:outerShdw>
          </a:effectLst>
        </p:spPr>
        <p:txBody>
          <a:bodyPr/>
          <a:lstStyle/>
          <a:p>
            <a:endParaRPr lang="en-US"/>
          </a:p>
        </p:txBody>
      </p:sp>
      <p:sp>
        <p:nvSpPr>
          <p:cNvPr id="10" name="Shape 7"/>
          <p:cNvSpPr/>
          <p:nvPr/>
        </p:nvSpPr>
        <p:spPr>
          <a:xfrm>
            <a:off x="6263640" y="2103120"/>
            <a:ext cx="685800" cy="685800"/>
          </a:xfrm>
          <a:prstGeom prst="ellipse">
            <a:avLst/>
          </a:prstGeom>
          <a:solidFill>
            <a:srgbClr val="E8A33D"/>
          </a:solidFill>
          <a:ln/>
          <a:effectLst>
            <a:outerShdw blurRad="101600" dist="38100" dir="5400000" algn="bl" rotWithShape="0">
              <a:srgbClr val="000000">
                <a:alpha val="18000"/>
              </a:srgbClr>
            </a:outerShdw>
          </a:effectLst>
        </p:spPr>
        <p:txBody>
          <a:bodyPr/>
          <a:lstStyle/>
          <a:p>
            <a:endParaRPr lang="en-US"/>
          </a:p>
        </p:txBody>
      </p:sp>
      <p:pic>
        <p:nvPicPr>
          <p:cNvPr id="11" name="Image 1" descr="preencoded.png"/>
          <p:cNvPicPr>
            <a:picLocks noChangeAspect="1"/>
          </p:cNvPicPr>
          <p:nvPr/>
        </p:nvPicPr>
        <p:blipFill>
          <a:blip r:embed="rId4"/>
          <a:stretch>
            <a:fillRect/>
          </a:stretch>
        </p:blipFill>
        <p:spPr>
          <a:xfrm>
            <a:off x="6352794" y="2192274"/>
            <a:ext cx="507492" cy="507492"/>
          </a:xfrm>
          <a:prstGeom prst="rect">
            <a:avLst/>
          </a:prstGeom>
        </p:spPr>
      </p:pic>
      <p:sp>
        <p:nvSpPr>
          <p:cNvPr id="12" name="Text 8"/>
          <p:cNvSpPr txBox="1"/>
          <p:nvPr/>
        </p:nvSpPr>
        <p:spPr>
          <a:xfrm>
            <a:off x="7132320" y="2194560"/>
            <a:ext cx="4206240" cy="54864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Our real plan: partner with Waze</a:t>
            </a:r>
            <a:endParaRPr lang="en-US" sz="1500" dirty="0"/>
          </a:p>
        </p:txBody>
      </p:sp>
      <p:sp>
        <p:nvSpPr>
          <p:cNvPr id="13" name="Text 9"/>
          <p:cNvSpPr txBox="1"/>
          <p:nvPr/>
        </p:nvSpPr>
        <p:spPr>
          <a:xfrm>
            <a:off x="6263640" y="2834640"/>
            <a:ext cx="5029200" cy="777240"/>
          </a:xfrm>
          <a:prstGeom prst="rect">
            <a:avLst/>
          </a:prstGeom>
          <a:noFill/>
          <a:ln/>
        </p:spPr>
        <p:txBody>
          <a:bodyPr wrap="square" lIns="0" tIns="0" rIns="0" bIns="0" rtlCol="0" anchor="ctr"/>
          <a:lstStyle/>
          <a:p>
            <a:pPr marL="0" indent="0">
              <a:buNone/>
            </a:pPr>
            <a:r>
              <a:rPr lang="en-US" sz="1250" dirty="0">
                <a:solidFill>
                  <a:srgbClr val="D9E6CC"/>
                </a:solidFill>
                <a:latin typeface="Calibri" pitchFamily="34" charset="0"/>
                <a:ea typeface="Calibri" pitchFamily="34" charset="-122"/>
                <a:cs typeface="Calibri" pitchFamily="34" charset="-120"/>
              </a:rPr>
              <a:t>•  Waze already has a program for public agencies to publish road-safety info directly into the Waze app people already use.</a:t>
            </a:r>
            <a:endParaRPr lang="en-US" sz="1250" dirty="0"/>
          </a:p>
        </p:txBody>
      </p:sp>
      <p:sp>
        <p:nvSpPr>
          <p:cNvPr id="14" name="Text 10"/>
          <p:cNvSpPr txBox="1"/>
          <p:nvPr/>
        </p:nvSpPr>
        <p:spPr>
          <a:xfrm>
            <a:off x="6263640" y="3675888"/>
            <a:ext cx="5029200" cy="777240"/>
          </a:xfrm>
          <a:prstGeom prst="rect">
            <a:avLst/>
          </a:prstGeom>
          <a:noFill/>
          <a:ln/>
        </p:spPr>
        <p:txBody>
          <a:bodyPr wrap="square" lIns="0" tIns="0" rIns="0" bIns="0" rtlCol="0" anchor="ctr"/>
          <a:lstStyle/>
          <a:p>
            <a:pPr marL="0" indent="0">
              <a:buNone/>
            </a:pPr>
            <a:r>
              <a:rPr lang="en-US" sz="1250" dirty="0">
                <a:solidFill>
                  <a:srgbClr val="D9E6CC"/>
                </a:solidFill>
                <a:latin typeface="Calibri" pitchFamily="34" charset="0"/>
                <a:ea typeface="Calibri" pitchFamily="34" charset="-122"/>
                <a:cs typeface="Calibri" pitchFamily="34" charset="-120"/>
              </a:rPr>
              <a:t>•  We are applying, and asking Iowa DOT and the City of Waukee to support our application as a student pilot.</a:t>
            </a:r>
            <a:endParaRPr lang="en-US" sz="1250" dirty="0"/>
          </a:p>
        </p:txBody>
      </p:sp>
      <p:sp>
        <p:nvSpPr>
          <p:cNvPr id="15" name="Text 11"/>
          <p:cNvSpPr txBox="1"/>
          <p:nvPr/>
        </p:nvSpPr>
        <p:spPr>
          <a:xfrm>
            <a:off x="6263640" y="4517136"/>
            <a:ext cx="5029200" cy="777240"/>
          </a:xfrm>
          <a:prstGeom prst="rect">
            <a:avLst/>
          </a:prstGeom>
          <a:noFill/>
          <a:ln/>
        </p:spPr>
        <p:txBody>
          <a:bodyPr wrap="square" lIns="0" tIns="0" rIns="0" bIns="0" rtlCol="0" anchor="ctr"/>
          <a:lstStyle/>
          <a:p>
            <a:pPr marL="0" indent="0">
              <a:buNone/>
            </a:pPr>
            <a:r>
              <a:rPr lang="en-US" sz="1250" dirty="0">
                <a:solidFill>
                  <a:srgbClr val="D9E6CC"/>
                </a:solidFill>
                <a:latin typeface="Calibri" pitchFamily="34" charset="0"/>
                <a:ea typeface="Calibri" pitchFamily="34" charset="-122"/>
                <a:cs typeface="Calibri" pitchFamily="34" charset="-120"/>
              </a:rPr>
              <a:t>•  If approved, our corridor data would show up as a normal Waze alert — starting with Iowa's corridors, ready to expand to other high-risk states.</a:t>
            </a:r>
            <a:endParaRPr lang="en-US" sz="1250" dirty="0"/>
          </a:p>
        </p:txBody>
      </p:sp>
      <p:sp>
        <p:nvSpPr>
          <p:cNvPr id="16" name="Text 12"/>
          <p:cNvSpPr txBox="1"/>
          <p:nvPr/>
        </p:nvSpPr>
        <p:spPr>
          <a:xfrm>
            <a:off x="11338560" y="6355080"/>
            <a:ext cx="457200" cy="320040"/>
          </a:xfrm>
          <a:prstGeom prst="rect">
            <a:avLst/>
          </a:prstGeom>
          <a:noFill/>
          <a:ln/>
        </p:spPr>
        <p:txBody>
          <a:bodyPr wrap="square" lIns="0" tIns="0" rIns="0" bIns="0" rtlCol="0" anchor="ctr"/>
          <a:lstStyle/>
          <a:p>
            <a:pPr marL="0" indent="0" algn="r">
              <a:buNone/>
            </a:pPr>
            <a:r>
              <a:rPr lang="en-US" sz="1100" dirty="0">
                <a:solidFill>
                  <a:srgbClr val="4B5A4C"/>
                </a:solidFill>
                <a:latin typeface="Calibri" pitchFamily="34" charset="0"/>
                <a:ea typeface="Calibri" pitchFamily="34" charset="-122"/>
                <a:cs typeface="Calibri" pitchFamily="34" charset="-120"/>
              </a:rPr>
              <a:t>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7315200" cy="365760"/>
          </a:xfrm>
          <a:prstGeom prst="rect">
            <a:avLst/>
          </a:prstGeom>
          <a:noFill/>
          <a:ln/>
        </p:spPr>
        <p:txBody>
          <a:bodyPr wrap="square" lIns="0" tIns="0" rIns="0" bIns="0" rtlCol="0" anchor="ctr"/>
          <a:lstStyle/>
          <a:p>
            <a:pPr marL="0" indent="0">
              <a:buNone/>
            </a:pPr>
            <a:r>
              <a:rPr lang="en-US" sz="1300" b="1" kern="0" spc="200" dirty="0">
                <a:solidFill>
                  <a:srgbClr val="B9781E"/>
                </a:solidFill>
                <a:latin typeface="Calibri" pitchFamily="34" charset="0"/>
                <a:ea typeface="Calibri" pitchFamily="34" charset="-122"/>
                <a:cs typeface="Calibri" pitchFamily="34" charset="-120"/>
              </a:rPr>
              <a:t>STAYING HONEST &amp; SAFE</a:t>
            </a:r>
            <a:endParaRPr lang="en-US" sz="1300" dirty="0"/>
          </a:p>
        </p:txBody>
      </p:sp>
      <p:sp>
        <p:nvSpPr>
          <p:cNvPr id="3" name="Text 1"/>
          <p:cNvSpPr txBox="1"/>
          <p:nvPr/>
        </p:nvSpPr>
        <p:spPr>
          <a:xfrm>
            <a:off x="640080" y="868680"/>
            <a:ext cx="10515600" cy="822960"/>
          </a:xfrm>
          <a:prstGeom prst="rect">
            <a:avLst/>
          </a:prstGeom>
          <a:noFill/>
          <a:ln/>
        </p:spPr>
        <p:txBody>
          <a:bodyPr wrap="square" lIns="0" tIns="0" rIns="0" bIns="0" rtlCol="0" anchor="ctr"/>
          <a:lstStyle/>
          <a:p>
            <a:pPr marL="0" indent="0">
              <a:buNone/>
            </a:pPr>
            <a:r>
              <a:rPr lang="en-US" sz="3000" b="1" dirty="0">
                <a:solidFill>
                  <a:srgbClr val="1E2A20"/>
                </a:solidFill>
                <a:latin typeface="Cambria" pitchFamily="34" charset="0"/>
                <a:ea typeface="Cambria" pitchFamily="34" charset="-122"/>
                <a:cs typeface="Cambria" pitchFamily="34" charset="-120"/>
              </a:rPr>
              <a:t>What we will and won’t claim</a:t>
            </a:r>
            <a:endParaRPr lang="en-US" sz="3000" dirty="0"/>
          </a:p>
        </p:txBody>
      </p:sp>
      <p:sp>
        <p:nvSpPr>
          <p:cNvPr id="4" name="Shape 2"/>
          <p:cNvSpPr/>
          <p:nvPr/>
        </p:nvSpPr>
        <p:spPr>
          <a:xfrm>
            <a:off x="640080" y="1920240"/>
            <a:ext cx="5120640" cy="3566160"/>
          </a:xfrm>
          <a:prstGeom prst="roundRect">
            <a:avLst>
              <a:gd name="adj" fmla="val 3077"/>
            </a:avLst>
          </a:prstGeom>
          <a:solidFill>
            <a:srgbClr val="EEF3EA"/>
          </a:solidFill>
          <a:ln/>
        </p:spPr>
        <p:txBody>
          <a:bodyPr/>
          <a:lstStyle/>
          <a:p>
            <a:endParaRPr lang="en-US"/>
          </a:p>
        </p:txBody>
      </p:sp>
      <p:sp>
        <p:nvSpPr>
          <p:cNvPr id="5" name="Shape 3"/>
          <p:cNvSpPr/>
          <p:nvPr/>
        </p:nvSpPr>
        <p:spPr>
          <a:xfrm>
            <a:off x="914400" y="2194560"/>
            <a:ext cx="594360" cy="594360"/>
          </a:xfrm>
          <a:prstGeom prst="ellipse">
            <a:avLst/>
          </a:prstGeom>
          <a:solidFill>
            <a:srgbClr val="B23A2E"/>
          </a:solidFill>
          <a:ln/>
          <a:effectLst>
            <a:outerShdw blurRad="101600" dist="38100" dir="5400000" algn="bl" rotWithShape="0">
              <a:srgbClr val="000000">
                <a:alpha val="18000"/>
              </a:srgbClr>
            </a:outerShdw>
          </a:effectLst>
        </p:spPr>
        <p:txBody>
          <a:bodyPr/>
          <a:lstStyle/>
          <a:p>
            <a:endParaRPr lang="en-US"/>
          </a:p>
        </p:txBody>
      </p:sp>
      <p:pic>
        <p:nvPicPr>
          <p:cNvPr id="6" name="Image 0" descr="preencoded.png"/>
          <p:cNvPicPr>
            <a:picLocks noChangeAspect="1"/>
          </p:cNvPicPr>
          <p:nvPr/>
        </p:nvPicPr>
        <p:blipFill>
          <a:blip r:embed="rId3"/>
          <a:stretch>
            <a:fillRect/>
          </a:stretch>
        </p:blipFill>
        <p:spPr>
          <a:xfrm>
            <a:off x="991667" y="2271827"/>
            <a:ext cx="439826" cy="439826"/>
          </a:xfrm>
          <a:prstGeom prst="rect">
            <a:avLst/>
          </a:prstGeom>
        </p:spPr>
      </p:pic>
      <p:sp>
        <p:nvSpPr>
          <p:cNvPr id="7" name="Text 4"/>
          <p:cNvSpPr txBox="1"/>
          <p:nvPr/>
        </p:nvSpPr>
        <p:spPr>
          <a:xfrm>
            <a:off x="1691640" y="2286000"/>
            <a:ext cx="3657600" cy="457200"/>
          </a:xfrm>
          <a:prstGeom prst="rect">
            <a:avLst/>
          </a:prstGeom>
          <a:noFill/>
          <a:ln/>
        </p:spPr>
        <p:txBody>
          <a:bodyPr wrap="square" lIns="0" tIns="0" rIns="0" bIns="0" rtlCol="0" anchor="ctr"/>
          <a:lstStyle/>
          <a:p>
            <a:pPr marL="0" indent="0">
              <a:buNone/>
            </a:pPr>
            <a:r>
              <a:rPr lang="en-US" sz="1600" b="1" dirty="0">
                <a:solidFill>
                  <a:srgbClr val="B23A2E"/>
                </a:solidFill>
                <a:latin typeface="Cambria" pitchFamily="34" charset="0"/>
                <a:ea typeface="Cambria" pitchFamily="34" charset="-122"/>
                <a:cs typeface="Cambria" pitchFamily="34" charset="-120"/>
              </a:rPr>
              <a:t>We never say...</a:t>
            </a:r>
            <a:endParaRPr lang="en-US" sz="1600" dirty="0"/>
          </a:p>
        </p:txBody>
      </p:sp>
      <p:sp>
        <p:nvSpPr>
          <p:cNvPr id="8" name="Text 5"/>
          <p:cNvSpPr txBox="1"/>
          <p:nvPr/>
        </p:nvSpPr>
        <p:spPr>
          <a:xfrm>
            <a:off x="914400" y="2926080"/>
            <a:ext cx="4572000" cy="685800"/>
          </a:xfrm>
          <a:prstGeom prst="rect">
            <a:avLst/>
          </a:prstGeom>
          <a:noFill/>
          <a:ln/>
        </p:spPr>
        <p:txBody>
          <a:bodyPr wrap="square" lIns="0" tIns="0" rIns="0" bIns="0" rtlCol="0" anchor="ctr"/>
          <a:lstStyle/>
          <a:p>
            <a:pPr marL="0" indent="0">
              <a:buNone/>
            </a:pPr>
            <a:r>
              <a:rPr lang="en-US" sz="1300" dirty="0">
                <a:solidFill>
                  <a:srgbClr val="4B5A4C"/>
                </a:solidFill>
                <a:latin typeface="Calibri" pitchFamily="34" charset="0"/>
                <a:ea typeface="Calibri" pitchFamily="34" charset="-122"/>
                <a:cs typeface="Calibri" pitchFamily="34" charset="-120"/>
              </a:rPr>
              <a:t>✕  "An animal is on the road right now"</a:t>
            </a:r>
            <a:endParaRPr lang="en-US" sz="1300" dirty="0"/>
          </a:p>
        </p:txBody>
      </p:sp>
      <p:sp>
        <p:nvSpPr>
          <p:cNvPr id="9" name="Text 6"/>
          <p:cNvSpPr txBox="1"/>
          <p:nvPr/>
        </p:nvSpPr>
        <p:spPr>
          <a:xfrm>
            <a:off x="914400" y="3703320"/>
            <a:ext cx="4572000" cy="685800"/>
          </a:xfrm>
          <a:prstGeom prst="rect">
            <a:avLst/>
          </a:prstGeom>
          <a:noFill/>
          <a:ln/>
        </p:spPr>
        <p:txBody>
          <a:bodyPr wrap="square" lIns="0" tIns="0" rIns="0" bIns="0" rtlCol="0" anchor="ctr"/>
          <a:lstStyle/>
          <a:p>
            <a:pPr marL="0" indent="0">
              <a:buNone/>
            </a:pPr>
            <a:r>
              <a:rPr lang="en-US" sz="1300" dirty="0">
                <a:solidFill>
                  <a:srgbClr val="4B5A4C"/>
                </a:solidFill>
                <a:latin typeface="Calibri" pitchFamily="34" charset="0"/>
                <a:ea typeface="Calibri" pitchFamily="34" charset="-122"/>
                <a:cs typeface="Calibri" pitchFamily="34" charset="-120"/>
              </a:rPr>
              <a:t>✕  A guarantee, or a real-time detection promise</a:t>
            </a:r>
            <a:endParaRPr lang="en-US" sz="1300" dirty="0"/>
          </a:p>
        </p:txBody>
      </p:sp>
      <p:sp>
        <p:nvSpPr>
          <p:cNvPr id="10" name="Text 7"/>
          <p:cNvSpPr txBox="1"/>
          <p:nvPr/>
        </p:nvSpPr>
        <p:spPr>
          <a:xfrm>
            <a:off x="914400" y="4480560"/>
            <a:ext cx="4572000" cy="685800"/>
          </a:xfrm>
          <a:prstGeom prst="rect">
            <a:avLst/>
          </a:prstGeom>
          <a:noFill/>
          <a:ln/>
        </p:spPr>
        <p:txBody>
          <a:bodyPr wrap="square" lIns="0" tIns="0" rIns="0" bIns="0" rtlCol="0" anchor="ctr"/>
          <a:lstStyle/>
          <a:p>
            <a:pPr marL="0" indent="0">
              <a:buNone/>
            </a:pPr>
            <a:r>
              <a:rPr lang="en-US" sz="1300" dirty="0">
                <a:solidFill>
                  <a:srgbClr val="4B5A4C"/>
                </a:solidFill>
                <a:latin typeface="Calibri" pitchFamily="34" charset="0"/>
                <a:ea typeface="Calibri" pitchFamily="34" charset="-122"/>
                <a:cs typeface="Calibri" pitchFamily="34" charset="-120"/>
              </a:rPr>
              <a:t>✕  Changing the driver's route</a:t>
            </a:r>
            <a:endParaRPr lang="en-US" sz="1300" dirty="0"/>
          </a:p>
        </p:txBody>
      </p:sp>
      <p:sp>
        <p:nvSpPr>
          <p:cNvPr id="11" name="Shape 8"/>
          <p:cNvSpPr/>
          <p:nvPr/>
        </p:nvSpPr>
        <p:spPr>
          <a:xfrm>
            <a:off x="5989320" y="1920240"/>
            <a:ext cx="5532120" cy="3566160"/>
          </a:xfrm>
          <a:prstGeom prst="roundRect">
            <a:avLst>
              <a:gd name="adj" fmla="val 3077"/>
            </a:avLst>
          </a:prstGeom>
          <a:solidFill>
            <a:srgbClr val="D9E6CC"/>
          </a:solidFill>
          <a:ln/>
        </p:spPr>
        <p:txBody>
          <a:bodyPr/>
          <a:lstStyle/>
          <a:p>
            <a:endParaRPr lang="en-US"/>
          </a:p>
        </p:txBody>
      </p:sp>
      <p:sp>
        <p:nvSpPr>
          <p:cNvPr id="12" name="Shape 9"/>
          <p:cNvSpPr/>
          <p:nvPr/>
        </p:nvSpPr>
        <p:spPr>
          <a:xfrm>
            <a:off x="6263640" y="2194560"/>
            <a:ext cx="594360" cy="594360"/>
          </a:xfrm>
          <a:prstGeom prst="ellipse">
            <a:avLst/>
          </a:prstGeom>
          <a:solidFill>
            <a:srgbClr val="2C5F2D"/>
          </a:solidFill>
          <a:ln/>
          <a:effectLst>
            <a:outerShdw blurRad="101600" dist="38100" dir="5400000" algn="bl" rotWithShape="0">
              <a:srgbClr val="000000">
                <a:alpha val="18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40907" y="2271827"/>
            <a:ext cx="439826" cy="439826"/>
          </a:xfrm>
          <a:prstGeom prst="rect">
            <a:avLst/>
          </a:prstGeom>
        </p:spPr>
      </p:pic>
      <p:sp>
        <p:nvSpPr>
          <p:cNvPr id="14" name="Text 10"/>
          <p:cNvSpPr txBox="1"/>
          <p:nvPr/>
        </p:nvSpPr>
        <p:spPr>
          <a:xfrm>
            <a:off x="7040880" y="2286000"/>
            <a:ext cx="4206240" cy="457200"/>
          </a:xfrm>
          <a:prstGeom prst="rect">
            <a:avLst/>
          </a:prstGeom>
          <a:noFill/>
          <a:ln/>
        </p:spPr>
        <p:txBody>
          <a:bodyPr wrap="square" lIns="0" tIns="0" rIns="0" bIns="0" rtlCol="0" anchor="ctr"/>
          <a:lstStyle/>
          <a:p>
            <a:pPr marL="0" indent="0">
              <a:buNone/>
            </a:pPr>
            <a:r>
              <a:rPr lang="en-US" sz="1600" b="1" dirty="0">
                <a:solidFill>
                  <a:srgbClr val="2C5F2D"/>
                </a:solidFill>
                <a:latin typeface="Cambria" pitchFamily="34" charset="0"/>
                <a:ea typeface="Cambria" pitchFamily="34" charset="-122"/>
                <a:cs typeface="Cambria" pitchFamily="34" charset="-120"/>
              </a:rPr>
              <a:t>We always say...</a:t>
            </a:r>
            <a:endParaRPr lang="en-US" sz="1600" dirty="0"/>
          </a:p>
        </p:txBody>
      </p:sp>
      <p:sp>
        <p:nvSpPr>
          <p:cNvPr id="15" name="Text 11"/>
          <p:cNvSpPr txBox="1"/>
          <p:nvPr/>
        </p:nvSpPr>
        <p:spPr>
          <a:xfrm>
            <a:off x="6263640" y="2926080"/>
            <a:ext cx="5029200" cy="685800"/>
          </a:xfrm>
          <a:prstGeom prst="rect">
            <a:avLst/>
          </a:prstGeom>
          <a:noFill/>
          <a:ln/>
        </p:spPr>
        <p:txBody>
          <a:bodyPr wrap="square" lIns="0" tIns="0" rIns="0" bIns="0" rtlCol="0" anchor="ctr"/>
          <a:lstStyle/>
          <a:p>
            <a:pPr marL="0" indent="0">
              <a:buNone/>
            </a:pPr>
            <a:r>
              <a:rPr lang="en-US" sz="1300" dirty="0">
                <a:solidFill>
                  <a:srgbClr val="1E2A20"/>
                </a:solidFill>
                <a:latin typeface="Calibri" pitchFamily="34" charset="0"/>
                <a:ea typeface="Calibri" pitchFamily="34" charset="-122"/>
                <a:cs typeface="Calibri" pitchFamily="34" charset="-120"/>
              </a:rPr>
              <a:t>✓  "This stretch of road has a real history of crashes"</a:t>
            </a:r>
            <a:endParaRPr lang="en-US" sz="1300" dirty="0"/>
          </a:p>
        </p:txBody>
      </p:sp>
      <p:sp>
        <p:nvSpPr>
          <p:cNvPr id="16" name="Text 12"/>
          <p:cNvSpPr txBox="1"/>
          <p:nvPr/>
        </p:nvSpPr>
        <p:spPr>
          <a:xfrm>
            <a:off x="6263640" y="3703320"/>
            <a:ext cx="5029200" cy="685800"/>
          </a:xfrm>
          <a:prstGeom prst="rect">
            <a:avLst/>
          </a:prstGeom>
          <a:noFill/>
          <a:ln/>
        </p:spPr>
        <p:txBody>
          <a:bodyPr wrap="square" lIns="0" tIns="0" rIns="0" bIns="0" rtlCol="0" anchor="ctr"/>
          <a:lstStyle/>
          <a:p>
            <a:pPr marL="0" indent="0">
              <a:buNone/>
            </a:pPr>
            <a:r>
              <a:rPr lang="en-US" sz="1300" dirty="0">
                <a:solidFill>
                  <a:srgbClr val="1E2A20"/>
                </a:solidFill>
                <a:latin typeface="Calibri" pitchFamily="34" charset="0"/>
                <a:ea typeface="Calibri" pitchFamily="34" charset="-122"/>
                <a:cs typeface="Calibri" pitchFamily="34" charset="-120"/>
              </a:rPr>
              <a:t>✓  A calm reminder to slow down and watch both shoulders</a:t>
            </a:r>
            <a:endParaRPr lang="en-US" sz="1300" dirty="0"/>
          </a:p>
        </p:txBody>
      </p:sp>
      <p:sp>
        <p:nvSpPr>
          <p:cNvPr id="17" name="Text 13"/>
          <p:cNvSpPr txBox="1"/>
          <p:nvPr/>
        </p:nvSpPr>
        <p:spPr>
          <a:xfrm>
            <a:off x="6263640" y="4480560"/>
            <a:ext cx="5029200" cy="685800"/>
          </a:xfrm>
          <a:prstGeom prst="rect">
            <a:avLst/>
          </a:prstGeom>
          <a:noFill/>
          <a:ln/>
        </p:spPr>
        <p:txBody>
          <a:bodyPr wrap="square" lIns="0" tIns="0" rIns="0" bIns="0" rtlCol="0" anchor="ctr"/>
          <a:lstStyle/>
          <a:p>
            <a:pPr marL="0" indent="0">
              <a:buNone/>
            </a:pPr>
            <a:r>
              <a:rPr lang="en-US" sz="1300" dirty="0">
                <a:solidFill>
                  <a:srgbClr val="1E2A20"/>
                </a:solidFill>
                <a:latin typeface="Calibri" pitchFamily="34" charset="0"/>
                <a:ea typeface="Calibri" pitchFamily="34" charset="-122"/>
                <a:cs typeface="Calibri" pitchFamily="34" charset="-120"/>
              </a:rPr>
              <a:t>✓  A pattern that expires — old warnings don't stay active forever</a:t>
            </a:r>
            <a:endParaRPr lang="en-US" sz="1300" dirty="0"/>
          </a:p>
        </p:txBody>
      </p:sp>
      <p:sp>
        <p:nvSpPr>
          <p:cNvPr id="18" name="Text 14"/>
          <p:cNvSpPr txBox="1"/>
          <p:nvPr/>
        </p:nvSpPr>
        <p:spPr>
          <a:xfrm>
            <a:off x="11338560" y="6355080"/>
            <a:ext cx="457200" cy="320040"/>
          </a:xfrm>
          <a:prstGeom prst="rect">
            <a:avLst/>
          </a:prstGeom>
          <a:noFill/>
          <a:ln/>
        </p:spPr>
        <p:txBody>
          <a:bodyPr wrap="square" lIns="0" tIns="0" rIns="0" bIns="0" rtlCol="0" anchor="ctr"/>
          <a:lstStyle/>
          <a:p>
            <a:pPr marL="0" indent="0" algn="r">
              <a:buNone/>
            </a:pPr>
            <a:r>
              <a:rPr lang="en-US" sz="1100" dirty="0">
                <a:solidFill>
                  <a:srgbClr val="4B5A4C"/>
                </a:solidFill>
                <a:latin typeface="Calibri" pitchFamily="34" charset="0"/>
                <a:ea typeface="Calibri" pitchFamily="34" charset="-122"/>
                <a:cs typeface="Calibri" pitchFamily="34" charset="-120"/>
              </a:rPr>
              <a:t>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7315200" cy="365760"/>
          </a:xfrm>
          <a:prstGeom prst="rect">
            <a:avLst/>
          </a:prstGeom>
          <a:noFill/>
          <a:ln/>
        </p:spPr>
        <p:txBody>
          <a:bodyPr wrap="square" lIns="0" tIns="0" rIns="0" bIns="0" rtlCol="0" anchor="ctr"/>
          <a:lstStyle/>
          <a:p>
            <a:pPr marL="0" indent="0">
              <a:buNone/>
            </a:pPr>
            <a:r>
              <a:rPr lang="en-US" sz="1300" b="1" kern="0" spc="200" dirty="0">
                <a:solidFill>
                  <a:srgbClr val="B9781E"/>
                </a:solidFill>
                <a:latin typeface="Calibri" pitchFamily="34" charset="0"/>
                <a:ea typeface="Calibri" pitchFamily="34" charset="-122"/>
                <a:cs typeface="Calibri" pitchFamily="34" charset="-120"/>
              </a:rPr>
              <a:t>WHAT'S NEXT</a:t>
            </a:r>
            <a:endParaRPr lang="en-US" sz="1300" dirty="0"/>
          </a:p>
        </p:txBody>
      </p:sp>
      <p:sp>
        <p:nvSpPr>
          <p:cNvPr id="3" name="Text 1"/>
          <p:cNvSpPr txBox="1"/>
          <p:nvPr/>
        </p:nvSpPr>
        <p:spPr>
          <a:xfrm>
            <a:off x="640080" y="868680"/>
            <a:ext cx="10515600" cy="822960"/>
          </a:xfrm>
          <a:prstGeom prst="rect">
            <a:avLst/>
          </a:prstGeom>
          <a:noFill/>
          <a:ln/>
        </p:spPr>
        <p:txBody>
          <a:bodyPr wrap="square" lIns="0" tIns="0" rIns="0" bIns="0" rtlCol="0" anchor="ctr"/>
          <a:lstStyle/>
          <a:p>
            <a:pPr marL="0" indent="0">
              <a:buNone/>
            </a:pPr>
            <a:r>
              <a:rPr lang="en-US" sz="3000" b="1" dirty="0">
                <a:solidFill>
                  <a:srgbClr val="1E2A20"/>
                </a:solidFill>
                <a:latin typeface="Cambria" pitchFamily="34" charset="0"/>
                <a:ea typeface="Cambria" pitchFamily="34" charset="-122"/>
                <a:cs typeface="Cambria" pitchFamily="34" charset="-120"/>
              </a:rPr>
              <a:t>Our roadmap from here</a:t>
            </a:r>
            <a:endParaRPr lang="en-US" sz="3000" dirty="0"/>
          </a:p>
        </p:txBody>
      </p:sp>
      <p:sp>
        <p:nvSpPr>
          <p:cNvPr id="4" name="Shape 2"/>
          <p:cNvSpPr/>
          <p:nvPr/>
        </p:nvSpPr>
        <p:spPr>
          <a:xfrm>
            <a:off x="640080" y="1965960"/>
            <a:ext cx="3383280" cy="3383280"/>
          </a:xfrm>
          <a:prstGeom prst="roundRect">
            <a:avLst>
              <a:gd name="adj" fmla="val 3243"/>
            </a:avLst>
          </a:prstGeom>
          <a:solidFill>
            <a:srgbClr val="EEF3EA"/>
          </a:solidFill>
          <a:ln/>
          <a:effectLst>
            <a:outerShdw blurRad="101600" dist="38100" dir="5400000" algn="bl" rotWithShape="0">
              <a:srgbClr val="000000">
                <a:alpha val="18000"/>
              </a:srgbClr>
            </a:outerShdw>
          </a:effectLst>
        </p:spPr>
        <p:txBody>
          <a:bodyPr/>
          <a:lstStyle/>
          <a:p>
            <a:endParaRPr lang="en-US"/>
          </a:p>
        </p:txBody>
      </p:sp>
      <p:sp>
        <p:nvSpPr>
          <p:cNvPr id="5" name="Text 3"/>
          <p:cNvSpPr txBox="1"/>
          <p:nvPr/>
        </p:nvSpPr>
        <p:spPr>
          <a:xfrm>
            <a:off x="914400" y="2240280"/>
            <a:ext cx="2834640" cy="457200"/>
          </a:xfrm>
          <a:prstGeom prst="rect">
            <a:avLst/>
          </a:prstGeom>
          <a:noFill/>
          <a:ln/>
        </p:spPr>
        <p:txBody>
          <a:bodyPr wrap="square" lIns="0" tIns="0" rIns="0" bIns="0" rtlCol="0" anchor="ctr"/>
          <a:lstStyle/>
          <a:p>
            <a:pPr marL="0" indent="0">
              <a:buNone/>
            </a:pPr>
            <a:r>
              <a:rPr lang="en-US" sz="1700" b="1" dirty="0">
                <a:solidFill>
                  <a:srgbClr val="2C5F2D"/>
                </a:solidFill>
                <a:latin typeface="Cambria" pitchFamily="34" charset="0"/>
                <a:ea typeface="Cambria" pitchFamily="34" charset="-122"/>
                <a:cs typeface="Cambria" pitchFamily="34" charset="-120"/>
              </a:rPr>
              <a:t>This week</a:t>
            </a:r>
            <a:endParaRPr lang="en-US" sz="1700" dirty="0"/>
          </a:p>
        </p:txBody>
      </p:sp>
      <p:sp>
        <p:nvSpPr>
          <p:cNvPr id="6" name="Text 4"/>
          <p:cNvSpPr txBox="1"/>
          <p:nvPr/>
        </p:nvSpPr>
        <p:spPr>
          <a:xfrm>
            <a:off x="914400" y="2788920"/>
            <a:ext cx="2834640" cy="2377440"/>
          </a:xfrm>
          <a:prstGeom prst="rect">
            <a:avLst/>
          </a:prstGeom>
          <a:noFill/>
          <a:ln/>
        </p:spPr>
        <p:txBody>
          <a:bodyPr wrap="square" lIns="0" tIns="0" rIns="0" bIns="0" rtlCol="0" anchor="ctr"/>
          <a:lstStyle/>
          <a:p>
            <a:pPr marL="0" indent="0">
              <a:buNone/>
            </a:pPr>
            <a:r>
              <a:rPr lang="en-US" sz="1300" dirty="0">
                <a:solidFill>
                  <a:srgbClr val="4B5A4C"/>
                </a:solidFill>
                <a:latin typeface="Calibri" pitchFamily="34" charset="0"/>
                <a:ea typeface="Calibri" pitchFamily="34" charset="-122"/>
                <a:cs typeface="Calibri" pitchFamily="34" charset="-120"/>
              </a:rPr>
              <a:t>Submit our Waze for Cities application, and email Iowa DOT and the City of Waukee to ask for their support.</a:t>
            </a:r>
            <a:endParaRPr lang="en-US" sz="1300" dirty="0"/>
          </a:p>
        </p:txBody>
      </p:sp>
      <p:sp>
        <p:nvSpPr>
          <p:cNvPr id="7" name="Shape 5"/>
          <p:cNvSpPr/>
          <p:nvPr/>
        </p:nvSpPr>
        <p:spPr>
          <a:xfrm>
            <a:off x="4343400" y="1965960"/>
            <a:ext cx="3383280" cy="3383280"/>
          </a:xfrm>
          <a:prstGeom prst="roundRect">
            <a:avLst>
              <a:gd name="adj" fmla="val 3243"/>
            </a:avLst>
          </a:prstGeom>
          <a:solidFill>
            <a:srgbClr val="2C5F2D"/>
          </a:solidFill>
          <a:ln/>
          <a:effectLst>
            <a:outerShdw blurRad="101600" dist="38100" dir="5400000" algn="bl" rotWithShape="0">
              <a:srgbClr val="000000">
                <a:alpha val="18000"/>
              </a:srgbClr>
            </a:outerShdw>
          </a:effectLst>
        </p:spPr>
        <p:txBody>
          <a:bodyPr/>
          <a:lstStyle/>
          <a:p>
            <a:endParaRPr lang="en-US"/>
          </a:p>
        </p:txBody>
      </p:sp>
      <p:sp>
        <p:nvSpPr>
          <p:cNvPr id="8" name="Text 6"/>
          <p:cNvSpPr txBox="1"/>
          <p:nvPr/>
        </p:nvSpPr>
        <p:spPr>
          <a:xfrm>
            <a:off x="4617720" y="2240280"/>
            <a:ext cx="2834640" cy="457200"/>
          </a:xfrm>
          <a:prstGeom prst="rect">
            <a:avLst/>
          </a:prstGeom>
          <a:noFill/>
          <a:ln/>
        </p:spPr>
        <p:txBody>
          <a:bodyPr wrap="square" lIns="0" tIns="0" rIns="0" bIns="0"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This month</a:t>
            </a:r>
            <a:endParaRPr lang="en-US" sz="1700" dirty="0"/>
          </a:p>
        </p:txBody>
      </p:sp>
      <p:sp>
        <p:nvSpPr>
          <p:cNvPr id="9" name="Text 7"/>
          <p:cNvSpPr txBox="1"/>
          <p:nvPr/>
        </p:nvSpPr>
        <p:spPr>
          <a:xfrm>
            <a:off x="4617720" y="2788920"/>
            <a:ext cx="2834640" cy="2377440"/>
          </a:xfrm>
          <a:prstGeom prst="rect">
            <a:avLst/>
          </a:prstGeom>
          <a:noFill/>
          <a:ln/>
        </p:spPr>
        <p:txBody>
          <a:bodyPr wrap="square" lIns="0" tIns="0" rIns="0" bIns="0" rtlCol="0" anchor="ctr"/>
          <a:lstStyle/>
          <a:p>
            <a:pPr marL="0" indent="0">
              <a:buNone/>
            </a:pPr>
            <a:r>
              <a:rPr lang="en-US" sz="1300" dirty="0">
                <a:solidFill>
                  <a:srgbClr val="E7EFE0"/>
                </a:solidFill>
                <a:latin typeface="Calibri" pitchFamily="34" charset="0"/>
                <a:ea typeface="Calibri" pitchFamily="34" charset="-122"/>
                <a:cs typeface="Calibri" pitchFamily="34" charset="-120"/>
              </a:rPr>
              <a:t>Keep improving the corridor logic with real data, and prepare for Waze's review process.</a:t>
            </a:r>
            <a:endParaRPr lang="en-US" sz="1300" dirty="0"/>
          </a:p>
        </p:txBody>
      </p:sp>
      <p:sp>
        <p:nvSpPr>
          <p:cNvPr id="10" name="Shape 8"/>
          <p:cNvSpPr/>
          <p:nvPr/>
        </p:nvSpPr>
        <p:spPr>
          <a:xfrm>
            <a:off x="8046720" y="1965960"/>
            <a:ext cx="3383280" cy="3383280"/>
          </a:xfrm>
          <a:prstGeom prst="roundRect">
            <a:avLst>
              <a:gd name="adj" fmla="val 3243"/>
            </a:avLst>
          </a:prstGeom>
          <a:solidFill>
            <a:srgbClr val="EEF3EA"/>
          </a:solidFill>
          <a:ln/>
          <a:effectLst>
            <a:outerShdw blurRad="101600" dist="38100" dir="5400000" algn="bl" rotWithShape="0">
              <a:srgbClr val="000000">
                <a:alpha val="18000"/>
              </a:srgbClr>
            </a:outerShdw>
          </a:effectLst>
        </p:spPr>
        <p:txBody>
          <a:bodyPr/>
          <a:lstStyle/>
          <a:p>
            <a:endParaRPr lang="en-US"/>
          </a:p>
        </p:txBody>
      </p:sp>
      <p:sp>
        <p:nvSpPr>
          <p:cNvPr id="11" name="Text 9"/>
          <p:cNvSpPr txBox="1"/>
          <p:nvPr/>
        </p:nvSpPr>
        <p:spPr>
          <a:xfrm>
            <a:off x="8321040" y="2240280"/>
            <a:ext cx="2834640" cy="457200"/>
          </a:xfrm>
          <a:prstGeom prst="rect">
            <a:avLst/>
          </a:prstGeom>
          <a:noFill/>
          <a:ln/>
        </p:spPr>
        <p:txBody>
          <a:bodyPr wrap="square" lIns="0" tIns="0" rIns="0" bIns="0" rtlCol="0" anchor="ctr"/>
          <a:lstStyle/>
          <a:p>
            <a:pPr marL="0" indent="0">
              <a:buNone/>
            </a:pPr>
            <a:r>
              <a:rPr lang="en-US" sz="1700" b="1" dirty="0">
                <a:solidFill>
                  <a:srgbClr val="2C5F2D"/>
                </a:solidFill>
                <a:latin typeface="Cambria" pitchFamily="34" charset="0"/>
                <a:ea typeface="Cambria" pitchFamily="34" charset="-122"/>
                <a:cs typeface="Cambria" pitchFamily="34" charset="-120"/>
              </a:rPr>
              <a:t>Down the road</a:t>
            </a:r>
            <a:endParaRPr lang="en-US" sz="1700" dirty="0"/>
          </a:p>
        </p:txBody>
      </p:sp>
      <p:sp>
        <p:nvSpPr>
          <p:cNvPr id="12" name="Text 10"/>
          <p:cNvSpPr txBox="1"/>
          <p:nvPr/>
        </p:nvSpPr>
        <p:spPr>
          <a:xfrm>
            <a:off x="8321040" y="2788920"/>
            <a:ext cx="2834640" cy="2377440"/>
          </a:xfrm>
          <a:prstGeom prst="rect">
            <a:avLst/>
          </a:prstGeom>
          <a:noFill/>
          <a:ln/>
        </p:spPr>
        <p:txBody>
          <a:bodyPr wrap="square" lIns="0" tIns="0" rIns="0" bIns="0" rtlCol="0" anchor="ctr"/>
          <a:lstStyle/>
          <a:p>
            <a:pPr marL="0" indent="0">
              <a:buNone/>
            </a:pPr>
            <a:r>
              <a:rPr lang="en-US" sz="1300" dirty="0">
                <a:solidFill>
                  <a:srgbClr val="4B5A4C"/>
                </a:solidFill>
                <a:latin typeface="Calibri" pitchFamily="34" charset="0"/>
                <a:ea typeface="Calibri" pitchFamily="34" charset="-122"/>
                <a:cs typeface="Calibri" pitchFamily="34" charset="-120"/>
              </a:rPr>
              <a:t>If a real pilot works, the same approach could scale to other high-risk states — like Pennsylvania, Wisconsin, and Michigan — and even power physical road signs. No app needed at all.</a:t>
            </a:r>
            <a:endParaRPr lang="en-US" sz="1300" dirty="0"/>
          </a:p>
        </p:txBody>
      </p:sp>
      <p:sp>
        <p:nvSpPr>
          <p:cNvPr id="13" name="Text 11"/>
          <p:cNvSpPr txBox="1"/>
          <p:nvPr/>
        </p:nvSpPr>
        <p:spPr>
          <a:xfrm>
            <a:off x="11338560" y="6355080"/>
            <a:ext cx="457200" cy="320040"/>
          </a:xfrm>
          <a:prstGeom prst="rect">
            <a:avLst/>
          </a:prstGeom>
          <a:noFill/>
          <a:ln/>
        </p:spPr>
        <p:txBody>
          <a:bodyPr wrap="square" lIns="0" tIns="0" rIns="0" bIns="0" rtlCol="0" anchor="ctr"/>
          <a:lstStyle/>
          <a:p>
            <a:pPr marL="0" indent="0" algn="r">
              <a:buNone/>
            </a:pPr>
            <a:r>
              <a:rPr lang="en-US" sz="1100" dirty="0">
                <a:solidFill>
                  <a:srgbClr val="4B5A4C"/>
                </a:solidFill>
                <a:latin typeface="Calibri" pitchFamily="34" charset="0"/>
                <a:ea typeface="Calibri" pitchFamily="34" charset="-122"/>
                <a:cs typeface="Calibri" pitchFamily="34" charset="-120"/>
              </a:rPr>
              <a:t>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7331F"/>
        </a:solidFill>
        <a:effectLst/>
      </p:bgPr>
    </p:bg>
    <p:spTree>
      <p:nvGrpSpPr>
        <p:cNvPr id="1" name=""/>
        <p:cNvGrpSpPr/>
        <p:nvPr/>
      </p:nvGrpSpPr>
      <p:grpSpPr>
        <a:xfrm>
          <a:off x="0" y="0"/>
          <a:ext cx="0" cy="0"/>
          <a:chOff x="0" y="0"/>
          <a:chExt cx="0" cy="0"/>
        </a:xfrm>
      </p:grpSpPr>
      <p:sp>
        <p:nvSpPr>
          <p:cNvPr id="2" name="Shape 0"/>
          <p:cNvSpPr/>
          <p:nvPr/>
        </p:nvSpPr>
        <p:spPr>
          <a:xfrm>
            <a:off x="5577840" y="1005840"/>
            <a:ext cx="1005840" cy="1005840"/>
          </a:xfrm>
          <a:prstGeom prst="ellipse">
            <a:avLst/>
          </a:prstGeom>
          <a:solidFill>
            <a:srgbClr val="E8A33D"/>
          </a:solidFill>
          <a:ln/>
          <a:effectLst>
            <a:outerShdw blurRad="101600" dist="38100" dir="5400000" algn="bl" rotWithShape="0">
              <a:srgbClr val="000000">
                <a:alpha val="18000"/>
              </a:srgbClr>
            </a:outerShdw>
          </a:effectLst>
        </p:spPr>
        <p:txBody>
          <a:bodyPr/>
          <a:lstStyle/>
          <a:p>
            <a:endParaRPr lang="en-US"/>
          </a:p>
        </p:txBody>
      </p:sp>
      <p:pic>
        <p:nvPicPr>
          <p:cNvPr id="3" name="Image 0" descr="preencoded.png"/>
          <p:cNvPicPr>
            <a:picLocks noChangeAspect="1"/>
          </p:cNvPicPr>
          <p:nvPr/>
        </p:nvPicPr>
        <p:blipFill>
          <a:blip r:embed="rId3"/>
          <a:stretch>
            <a:fillRect/>
          </a:stretch>
        </p:blipFill>
        <p:spPr>
          <a:xfrm>
            <a:off x="5708599" y="1136599"/>
            <a:ext cx="744322" cy="744322"/>
          </a:xfrm>
          <a:prstGeom prst="rect">
            <a:avLst/>
          </a:prstGeom>
        </p:spPr>
      </p:pic>
      <p:sp>
        <p:nvSpPr>
          <p:cNvPr id="4" name="Text 1"/>
          <p:cNvSpPr txBox="1"/>
          <p:nvPr/>
        </p:nvSpPr>
        <p:spPr>
          <a:xfrm>
            <a:off x="0" y="2286000"/>
            <a:ext cx="12161520" cy="1005840"/>
          </a:xfrm>
          <a:prstGeom prst="rect">
            <a:avLst/>
          </a:prstGeom>
          <a:noFill/>
          <a:ln/>
        </p:spPr>
        <p:txBody>
          <a:bodyPr wrap="square" lIns="0" tIns="0" rIns="0" bIns="0" rtlCol="0" anchor="ctr"/>
          <a:lstStyle/>
          <a:p>
            <a:pPr marL="0" indent="0" algn="ctr">
              <a:buNone/>
            </a:pPr>
            <a:r>
              <a:rPr lang="en-US" sz="4600" b="1" dirty="0">
                <a:solidFill>
                  <a:srgbClr val="FFFFFF"/>
                </a:solidFill>
                <a:latin typeface="Cambria" pitchFamily="34" charset="0"/>
                <a:ea typeface="Cambria" pitchFamily="34" charset="-122"/>
                <a:cs typeface="Cambria" pitchFamily="34" charset="-120"/>
              </a:rPr>
              <a:t>Thank you!</a:t>
            </a:r>
            <a:endParaRPr lang="en-US" sz="4600" dirty="0"/>
          </a:p>
        </p:txBody>
      </p:sp>
      <p:sp>
        <p:nvSpPr>
          <p:cNvPr id="5" name="Text 2"/>
          <p:cNvSpPr txBox="1"/>
          <p:nvPr/>
        </p:nvSpPr>
        <p:spPr>
          <a:xfrm>
            <a:off x="0" y="3246120"/>
            <a:ext cx="12161520" cy="548640"/>
          </a:xfrm>
          <a:prstGeom prst="rect">
            <a:avLst/>
          </a:prstGeom>
          <a:noFill/>
          <a:ln/>
        </p:spPr>
        <p:txBody>
          <a:bodyPr wrap="square" lIns="0" tIns="0" rIns="0" bIns="0" rtlCol="0" anchor="ctr"/>
          <a:lstStyle/>
          <a:p>
            <a:pPr marL="0" indent="0" algn="ctr">
              <a:buNone/>
            </a:pPr>
            <a:r>
              <a:rPr lang="en-US" sz="1800" i="1" dirty="0">
                <a:solidFill>
                  <a:srgbClr val="D9E6CC"/>
                </a:solidFill>
                <a:latin typeface="Calibri" pitchFamily="34" charset="0"/>
                <a:ea typeface="Calibri" pitchFamily="34" charset="-122"/>
                <a:cs typeface="Calibri" pitchFamily="34" charset="-120"/>
              </a:rPr>
              <a:t>Questions for the Pause for Paws team?</a:t>
            </a:r>
            <a:endParaRPr lang="en-US" sz="1800" dirty="0"/>
          </a:p>
        </p:txBody>
      </p:sp>
      <p:sp>
        <p:nvSpPr>
          <p:cNvPr id="6" name="Text 3"/>
          <p:cNvSpPr txBox="1"/>
          <p:nvPr/>
        </p:nvSpPr>
        <p:spPr>
          <a:xfrm>
            <a:off x="0" y="5943600"/>
            <a:ext cx="12161520" cy="365760"/>
          </a:xfrm>
          <a:prstGeom prst="rect">
            <a:avLst/>
          </a:prstGeom>
          <a:noFill/>
          <a:ln/>
        </p:spPr>
        <p:txBody>
          <a:bodyPr wrap="square" lIns="0" tIns="0" rIns="0" bIns="0" rtlCol="0" anchor="ctr"/>
          <a:lstStyle/>
          <a:p>
            <a:pPr marL="0" indent="0" algn="ctr">
              <a:buNone/>
            </a:pPr>
            <a:r>
              <a:rPr lang="en-US" sz="1300" dirty="0">
                <a:solidFill>
                  <a:srgbClr val="B9C9B4"/>
                </a:solidFill>
                <a:latin typeface="Calibri" pitchFamily="34" charset="0"/>
                <a:ea typeface="Calibri" pitchFamily="34" charset="-122"/>
                <a:cs typeface="Calibri" pitchFamily="34" charset="-120"/>
              </a:rPr>
              <a:t>[Team Name] · [Student names] · Coach: Dev</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1597</Words>
  <Application>Microsoft Office PowerPoint</Application>
  <PresentationFormat>Widescreen</PresentationFormat>
  <Paragraphs>130</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Dev AM</cp:lastModifiedBy>
  <cp:revision>1</cp:revision>
  <dcterms:created xsi:type="dcterms:W3CDTF">2026-09-05T17:10:46Z</dcterms:created>
  <dcterms:modified xsi:type="dcterms:W3CDTF">2026-09-05T17:15:45Z</dcterms:modified>
</cp:coreProperties>
</file>