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students
1. Say: this app started as a rough idea on Aug 29. Ask the room: what would you ask an AI first?
2. For each step, cover the green WE ASKED box and let students guess what the app did next, then reveal WE GOT.
3. Point out the pictures: step 1 is our real first prototype, step 3 is the live map with real Iowa DOT crashes.
4. Lesson 4: the AI can be wrong. We found 152 repeated crash records and 22 phantom corridors by checking its work, then asked for fixes.
5. Finish with the QR code: students can scan it to install the free iPhone app. Clicking the QR, the live map picture or the App Store picture opens the link in slideshow mode.
The prompts on the slide are written in plain words. The team's very first prompt is not saved in the project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pauseforpawsusa.org/" TargetMode="External"/><Relationship Id="rId8" Type="http://schemas.openxmlformats.org/officeDocument/2006/relationships/hyperlink" Target="https://apps.apple.com/us/app/pause-for-paws/id6816612414" TargetMode="External"/><Relationship Id="rId11" Type="http://schemas.openxmlformats.org/officeDocument/2006/relationships/hyperlink" Target="https://apps.apple.com/us/app/pause-for-paws/id6816612414"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12191695" cy="886968"/>
          </a:xfrm>
          <a:prstGeom prst="rect">
            <a:avLst/>
          </a:prstGeom>
          <a:solidFill>
            <a:srgbClr val="17382B"/>
          </a:solidFill>
          <a:ln w="12700">
            <a:solidFill>
              <a:srgbClr val="17382B"/>
            </a:solidFill>
            <a:prstDash val="solid"/>
          </a:ln>
        </p:spPr>
      </p:sp>
      <p:pic>
        <p:nvPicPr>
          <p:cNvPr id="3" name="Image 0" descr="Pause for Paws app icon">    </p:cNvPr>
          <p:cNvPicPr>
            <a:picLocks noChangeAspect="1"/>
          </p:cNvPicPr>
          <p:nvPr/>
        </p:nvPicPr>
        <p:blipFill>
          <a:blip r:embed="rId1"/>
          <a:stretch>
            <a:fillRect/>
          </a:stretch>
        </p:blipFill>
        <p:spPr>
          <a:xfrm>
            <a:off x="402336" y="164592"/>
            <a:ext cx="557784" cy="557784"/>
          </a:xfrm>
          <a:prstGeom prst="rect">
            <a:avLst/>
          </a:prstGeom>
        </p:spPr>
      </p:pic>
      <p:sp>
        <p:nvSpPr>
          <p:cNvPr id="4" name="Text 1"/>
          <p:cNvSpPr txBox="1"/>
          <p:nvPr/>
        </p:nvSpPr>
        <p:spPr>
          <a:xfrm>
            <a:off x="1115568" y="128016"/>
            <a:ext cx="7498080" cy="4114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From a rough idea to a live app: how prompting works</a:t>
            </a:r>
            <a:endParaRPr lang="en-US" sz="2400" dirty="0"/>
          </a:p>
        </p:txBody>
      </p:sp>
      <p:sp>
        <p:nvSpPr>
          <p:cNvPr id="5" name="Text 2"/>
          <p:cNvSpPr txBox="1"/>
          <p:nvPr/>
        </p:nvSpPr>
        <p:spPr>
          <a:xfrm>
            <a:off x="1115568" y="530352"/>
            <a:ext cx="7863840" cy="274320"/>
          </a:xfrm>
          <a:prstGeom prst="rect">
            <a:avLst/>
          </a:prstGeom>
          <a:noFill/>
          <a:ln/>
        </p:spPr>
        <p:txBody>
          <a:bodyPr wrap="square" lIns="0" tIns="0" rIns="0" bIns="0" rtlCol="0" anchor="ctr"/>
          <a:lstStyle/>
          <a:p>
            <a:pPr indent="0" marL="0">
              <a:buNone/>
            </a:pPr>
            <a:r>
              <a:rPr lang="en-US" sz="1300" dirty="0">
                <a:solidFill>
                  <a:srgbClr val="BFD8CB"/>
                </a:solidFill>
                <a:latin typeface="Calibri" pitchFamily="34" charset="0"/>
                <a:ea typeface="Calibri" pitchFamily="34" charset="-122"/>
                <a:cs typeface="Calibri" pitchFamily="34" charset="-120"/>
              </a:rPr>
              <a:t>Pause for Paws, built by The Blizzards #67350, a Waukee middle school student team</a:t>
            </a:r>
            <a:endParaRPr lang="en-US" sz="1300" dirty="0"/>
          </a:p>
        </p:txBody>
      </p:sp>
      <p:sp>
        <p:nvSpPr>
          <p:cNvPr id="6" name="Text 3"/>
          <p:cNvSpPr txBox="1"/>
          <p:nvPr/>
        </p:nvSpPr>
        <p:spPr>
          <a:xfrm>
            <a:off x="8503920" y="137160"/>
            <a:ext cx="3291840" cy="365760"/>
          </a:xfrm>
          <a:prstGeom prst="rect">
            <a:avLst/>
          </a:prstGeom>
          <a:noFill/>
          <a:ln/>
        </p:spPr>
        <p:txBody>
          <a:bodyPr wrap="square" lIns="0" tIns="0" rIns="0" bIns="0" rtlCol="0" anchor="ctr"/>
          <a:lstStyle/>
          <a:p>
            <a:pPr algn="r" indent="0" marL="0">
              <a:buNone/>
            </a:pPr>
            <a:r>
              <a:rPr lang="en-US" sz="2100" b="1" dirty="0">
                <a:solidFill>
                  <a:srgbClr val="FFFFFF"/>
                </a:solidFill>
                <a:latin typeface="Calibri" pitchFamily="34" charset="0"/>
                <a:ea typeface="Calibri" pitchFamily="34" charset="-122"/>
                <a:cs typeface="Calibri" pitchFamily="34" charset="-120"/>
              </a:rPr>
              <a:t>Now on the App Store!</a:t>
            </a:r>
            <a:endParaRPr lang="en-US" sz="2100" dirty="0"/>
          </a:p>
        </p:txBody>
      </p:sp>
      <p:sp>
        <p:nvSpPr>
          <p:cNvPr id="7" name="Text 4"/>
          <p:cNvSpPr txBox="1"/>
          <p:nvPr/>
        </p:nvSpPr>
        <p:spPr>
          <a:xfrm>
            <a:off x="8229600" y="530352"/>
            <a:ext cx="3566160" cy="274320"/>
          </a:xfrm>
          <a:prstGeom prst="rect">
            <a:avLst/>
          </a:prstGeom>
          <a:noFill/>
          <a:ln/>
        </p:spPr>
        <p:txBody>
          <a:bodyPr wrap="square" lIns="0" tIns="0" rIns="0" bIns="0" rtlCol="0" anchor="ctr"/>
          <a:lstStyle/>
          <a:p>
            <a:pPr algn="r" indent="0" marL="0">
              <a:buNone/>
            </a:pPr>
            <a:r>
              <a:rPr lang="en-US" sz="1250" dirty="0">
                <a:solidFill>
                  <a:srgbClr val="BFD8CB"/>
                </a:solidFill>
                <a:latin typeface="Calibri" pitchFamily="34" charset="0"/>
                <a:ea typeface="Calibri" pitchFamily="34" charset="-122"/>
                <a:cs typeface="Calibri" pitchFamily="34" charset="-120"/>
              </a:rPr>
              <a:t>iPhone: live now. Android: in testing.</a:t>
            </a:r>
            <a:endParaRPr lang="en-US" sz="1250" dirty="0"/>
          </a:p>
        </p:txBody>
      </p:sp>
      <p:sp>
        <p:nvSpPr>
          <p:cNvPr id="8" name="Shape 5"/>
          <p:cNvSpPr/>
          <p:nvPr/>
        </p:nvSpPr>
        <p:spPr>
          <a:xfrm>
            <a:off x="405994" y="1097280"/>
            <a:ext cx="1819656" cy="3529584"/>
          </a:xfrm>
          <a:prstGeom prst="roundRect">
            <a:avLst>
              <a:gd name="adj" fmla="val 6030"/>
            </a:avLst>
          </a:prstGeom>
          <a:solidFill>
            <a:srgbClr val="FFFFFF"/>
          </a:solidFill>
          <a:ln w="12700">
            <a:solidFill>
              <a:srgbClr val="DBE6E0"/>
            </a:solidFill>
            <a:prstDash val="solid"/>
          </a:ln>
        </p:spPr>
      </p:sp>
      <p:pic>
        <p:nvPicPr>
          <p:cNvPr id="9" name="Image 1" descr="Our first prototype, Aug 23">    </p:cNvPr>
          <p:cNvPicPr>
            <a:picLocks noChangeAspect="1"/>
          </p:cNvPicPr>
          <p:nvPr/>
        </p:nvPicPr>
        <p:blipFill>
          <a:blip r:embed="rId2"/>
          <a:stretch>
            <a:fillRect/>
          </a:stretch>
        </p:blipFill>
        <p:spPr>
          <a:xfrm>
            <a:off x="424282" y="1115568"/>
            <a:ext cx="1783080" cy="1481328"/>
          </a:xfrm>
          <a:prstGeom prst="rect">
            <a:avLst/>
          </a:prstGeom>
        </p:spPr>
      </p:pic>
      <p:sp>
        <p:nvSpPr>
          <p:cNvPr id="10" name="Text 6"/>
          <p:cNvSpPr txBox="1"/>
          <p:nvPr/>
        </p:nvSpPr>
        <p:spPr>
          <a:xfrm>
            <a:off x="479146" y="2322576"/>
            <a:ext cx="1673352" cy="201168"/>
          </a:xfrm>
          <a:prstGeom prst="rect">
            <a:avLst/>
          </a:prstGeom>
          <a:solidFill>
            <a:srgbClr val="17382B">
              <a:alpha val="88000"/>
            </a:srgbClr>
          </a:solidFill>
          <a:ln/>
        </p:spPr>
        <p:txBody>
          <a:bodyPr wrap="square" lIns="0" tIns="50800" rIns="5080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Our first prototype, Aug 23</a:t>
            </a:r>
            <a:endParaRPr lang="en-US" sz="800" dirty="0"/>
          </a:p>
        </p:txBody>
      </p:sp>
      <p:sp>
        <p:nvSpPr>
          <p:cNvPr id="11" name="Shape 7"/>
          <p:cNvSpPr/>
          <p:nvPr/>
        </p:nvSpPr>
        <p:spPr>
          <a:xfrm>
            <a:off x="497434" y="987552"/>
            <a:ext cx="228600" cy="228600"/>
          </a:xfrm>
          <a:prstGeom prst="ellipse">
            <a:avLst/>
          </a:prstGeom>
          <a:solidFill>
            <a:srgbClr val="2E7D5B"/>
          </a:solidFill>
          <a:ln w="12700">
            <a:solidFill>
              <a:srgbClr val="2E7D5B"/>
            </a:solidFill>
            <a:prstDash val="solid"/>
          </a:ln>
        </p:spPr>
      </p:sp>
      <p:sp>
        <p:nvSpPr>
          <p:cNvPr id="12" name="Text 8"/>
          <p:cNvSpPr txBox="1"/>
          <p:nvPr/>
        </p:nvSpPr>
        <p:spPr>
          <a:xfrm>
            <a:off x="497434" y="987552"/>
            <a:ext cx="22860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9"/>
          <p:cNvSpPr txBox="1"/>
          <p:nvPr/>
        </p:nvSpPr>
        <p:spPr>
          <a:xfrm>
            <a:off x="515722" y="2642616"/>
            <a:ext cx="1600200" cy="182880"/>
          </a:xfrm>
          <a:prstGeom prst="rect">
            <a:avLst/>
          </a:prstGeom>
          <a:noFill/>
          <a:ln/>
        </p:spPr>
        <p:txBody>
          <a:bodyPr wrap="square" lIns="0" tIns="0" rIns="0" bIns="0" rtlCol="0" anchor="ctr"/>
          <a:lstStyle/>
          <a:p>
            <a:pPr indent="0" marL="0">
              <a:buNone/>
            </a:pPr>
            <a:r>
              <a:rPr lang="en-US" sz="900" b="1" spc="100" kern="0" dirty="0">
                <a:solidFill>
                  <a:srgbClr val="2E7D5B"/>
                </a:solidFill>
                <a:latin typeface="Calibri" pitchFamily="34" charset="0"/>
                <a:ea typeface="Calibri" pitchFamily="34" charset="-122"/>
                <a:cs typeface="Calibri" pitchFamily="34" charset="-120"/>
              </a:rPr>
              <a:t>AUG 29</a:t>
            </a:r>
            <a:endParaRPr lang="en-US" sz="900" dirty="0"/>
          </a:p>
        </p:txBody>
      </p:sp>
      <p:sp>
        <p:nvSpPr>
          <p:cNvPr id="14" name="Text 10"/>
          <p:cNvSpPr txBox="1"/>
          <p:nvPr/>
        </p:nvSpPr>
        <p:spPr>
          <a:xfrm>
            <a:off x="515722" y="2825496"/>
            <a:ext cx="1600200" cy="256032"/>
          </a:xfrm>
          <a:prstGeom prst="rect">
            <a:avLst/>
          </a:prstGeom>
          <a:noFill/>
          <a:ln/>
        </p:spPr>
        <p:txBody>
          <a:bodyPr wrap="square" lIns="0" tIns="0" rIns="0" bIns="0" rtlCol="0" anchor="ctr"/>
          <a:lstStyle/>
          <a:p>
            <a:pPr indent="0" marL="0">
              <a:buNone/>
            </a:pPr>
            <a:r>
              <a:rPr lang="en-US" sz="1350" b="1" dirty="0">
                <a:solidFill>
                  <a:srgbClr val="17221E"/>
                </a:solidFill>
                <a:latin typeface="Calibri" pitchFamily="34" charset="0"/>
                <a:ea typeface="Calibri" pitchFamily="34" charset="-122"/>
                <a:cs typeface="Calibri" pitchFamily="34" charset="-120"/>
              </a:rPr>
              <a:t>Start rough</a:t>
            </a:r>
            <a:endParaRPr lang="en-US" sz="1350" dirty="0"/>
          </a:p>
        </p:txBody>
      </p:sp>
      <p:sp>
        <p:nvSpPr>
          <p:cNvPr id="15" name="Shape 11"/>
          <p:cNvSpPr/>
          <p:nvPr/>
        </p:nvSpPr>
        <p:spPr>
          <a:xfrm>
            <a:off x="497434" y="3127248"/>
            <a:ext cx="1636776" cy="713232"/>
          </a:xfrm>
          <a:prstGeom prst="roundRect">
            <a:avLst>
              <a:gd name="adj" fmla="val 6410"/>
            </a:avLst>
          </a:prstGeom>
          <a:solidFill>
            <a:srgbClr val="EAF3EF"/>
          </a:solidFill>
          <a:ln w="12700">
            <a:solidFill>
              <a:srgbClr val="EAF3EF"/>
            </a:solidFill>
            <a:prstDash val="solid"/>
          </a:ln>
        </p:spPr>
      </p:sp>
      <p:sp>
        <p:nvSpPr>
          <p:cNvPr id="16" name="Shape 12"/>
          <p:cNvSpPr/>
          <p:nvPr/>
        </p:nvSpPr>
        <p:spPr>
          <a:xfrm>
            <a:off x="497434" y="3127248"/>
            <a:ext cx="41148" cy="713232"/>
          </a:xfrm>
          <a:prstGeom prst="rect">
            <a:avLst/>
          </a:prstGeom>
          <a:solidFill>
            <a:srgbClr val="2E7D5B"/>
          </a:solidFill>
          <a:ln w="12700">
            <a:solidFill>
              <a:srgbClr val="2E7D5B"/>
            </a:solidFill>
            <a:prstDash val="solid"/>
          </a:ln>
        </p:spPr>
      </p:sp>
      <p:sp>
        <p:nvSpPr>
          <p:cNvPr id="17" name="Text 13"/>
          <p:cNvSpPr txBox="1"/>
          <p:nvPr/>
        </p:nvSpPr>
        <p:spPr>
          <a:xfrm>
            <a:off x="588874" y="3145536"/>
            <a:ext cx="1508760" cy="676656"/>
          </a:xfrm>
          <a:prstGeom prst="rect">
            <a:avLst/>
          </a:prstGeom>
          <a:noFill/>
          <a:ln/>
        </p:spPr>
        <p:txBody>
          <a:bodyPr wrap="square" lIns="0" tIns="0" rIns="0" bIns="0" rtlCol="0" anchor="t"/>
          <a:lstStyle/>
          <a:p>
            <a:pPr indent="0" marL="0">
              <a:buNone/>
            </a:pPr>
            <a:r>
              <a:rPr lang="en-US" sz="700" b="1" dirty="0">
                <a:solidFill>
                  <a:srgbClr val="2E7D5B"/>
                </a:solidFill>
                <a:latin typeface="Calibri" pitchFamily="34" charset="0"/>
                <a:ea typeface="Calibri" pitchFamily="34" charset="-122"/>
                <a:cs typeface="Calibri" pitchFamily="34" charset="-120"/>
              </a:rPr>
              <a:t>WE ASKED</a:t>
            </a:r>
            <a:endParaRPr lang="en-US" sz="700" dirty="0"/>
          </a:p>
          <a:p>
            <a:pPr indent="0" marL="0">
              <a:buNone/>
            </a:pPr>
            <a:r>
              <a:rPr lang="en-US" sz="1000" i="1" dirty="0">
                <a:solidFill>
                  <a:srgbClr val="17221E"/>
                </a:solidFill>
                <a:latin typeface="Calibri" pitchFamily="34" charset="0"/>
                <a:ea typeface="Calibri" pitchFamily="34" charset="-122"/>
                <a:cs typeface="Calibri" pitchFamily="34" charset="-120"/>
              </a:rPr>
              <a:t>“Warn drivers when they near a road where animals cross.”</a:t>
            </a:r>
            <a:endParaRPr lang="en-US" sz="700" dirty="0"/>
          </a:p>
        </p:txBody>
      </p:sp>
      <p:sp>
        <p:nvSpPr>
          <p:cNvPr id="18" name="Text 14"/>
          <p:cNvSpPr txBox="1"/>
          <p:nvPr/>
        </p:nvSpPr>
        <p:spPr>
          <a:xfrm>
            <a:off x="515722" y="3895344"/>
            <a:ext cx="1600200" cy="713232"/>
          </a:xfrm>
          <a:prstGeom prst="rect">
            <a:avLst/>
          </a:prstGeom>
          <a:noFill/>
          <a:ln/>
        </p:spPr>
        <p:txBody>
          <a:bodyPr wrap="square" lIns="0" tIns="0" rIns="0" bIns="0" rtlCol="0" anchor="t"/>
          <a:lstStyle/>
          <a:p>
            <a:pPr indent="0" marL="0">
              <a:buNone/>
            </a:pPr>
            <a:r>
              <a:rPr lang="en-US" sz="700" b="1" dirty="0">
                <a:solidFill>
                  <a:srgbClr val="3B6FB6"/>
                </a:solidFill>
                <a:latin typeface="Calibri" pitchFamily="34" charset="0"/>
                <a:ea typeface="Calibri" pitchFamily="34" charset="-122"/>
                <a:cs typeface="Calibri" pitchFamily="34" charset="-120"/>
              </a:rPr>
              <a:t>WE GOT</a:t>
            </a:r>
            <a:endParaRPr lang="en-US" sz="700" dirty="0"/>
          </a:p>
          <a:p>
            <a:pPr indent="0" marL="0">
              <a:buNone/>
            </a:pPr>
            <a:r>
              <a:rPr lang="en-US" sz="1000" dirty="0">
                <a:solidFill>
                  <a:srgbClr val="17221E"/>
                </a:solidFill>
                <a:latin typeface="Calibri" pitchFamily="34" charset="0"/>
                <a:ea typeface="Calibri" pitchFamily="34" charset="-122"/>
                <a:cs typeface="Calibri" pitchFamily="34" charset="-120"/>
              </a:rPr>
              <a:t>A first map with 3 sample corridors and practice data.</a:t>
            </a:r>
            <a:endParaRPr lang="en-US" sz="700" dirty="0"/>
          </a:p>
        </p:txBody>
      </p:sp>
      <p:sp>
        <p:nvSpPr>
          <p:cNvPr id="19" name="Text 15"/>
          <p:cNvSpPr txBox="1"/>
          <p:nvPr/>
        </p:nvSpPr>
        <p:spPr>
          <a:xfrm>
            <a:off x="2207362" y="1810512"/>
            <a:ext cx="128016" cy="182880"/>
          </a:xfrm>
          <a:prstGeom prst="rect">
            <a:avLst/>
          </a:prstGeom>
          <a:noFill/>
          <a:ln/>
        </p:spPr>
        <p:txBody>
          <a:bodyPr wrap="square" lIns="0" tIns="0" rIns="0" bIns="0" rtlCol="0" anchor="ctr"/>
          <a:lstStyle/>
          <a:p>
            <a:pPr algn="ctr" indent="0" marL="0">
              <a:buNone/>
            </a:pPr>
            <a:r>
              <a:rPr lang="en-US" sz="1000" dirty="0">
                <a:solidFill>
                  <a:srgbClr val="2E7D5B"/>
                </a:solidFill>
                <a:latin typeface="Arial" pitchFamily="34" charset="0"/>
                <a:ea typeface="Arial" pitchFamily="34" charset="-122"/>
                <a:cs typeface="Arial" pitchFamily="34" charset="-120"/>
              </a:rPr>
              <a:t>▶</a:t>
            </a:r>
            <a:endParaRPr lang="en-US" sz="1000" dirty="0"/>
          </a:p>
        </p:txBody>
      </p:sp>
      <p:sp>
        <p:nvSpPr>
          <p:cNvPr id="20" name="Shape 16"/>
          <p:cNvSpPr/>
          <p:nvPr/>
        </p:nvSpPr>
        <p:spPr>
          <a:xfrm>
            <a:off x="2317090" y="1097280"/>
            <a:ext cx="1819656" cy="3529584"/>
          </a:xfrm>
          <a:prstGeom prst="roundRect">
            <a:avLst>
              <a:gd name="adj" fmla="val 6030"/>
            </a:avLst>
          </a:prstGeom>
          <a:solidFill>
            <a:srgbClr val="FFFFFF"/>
          </a:solidFill>
          <a:ln w="12700">
            <a:solidFill>
              <a:srgbClr val="DBE6E0"/>
            </a:solidFill>
            <a:prstDash val="solid"/>
          </a:ln>
        </p:spPr>
      </p:sp>
      <p:pic>
        <p:nvPicPr>
          <p:cNvPr id="21" name="Image 2" descr="The map on the phone">    </p:cNvPr>
          <p:cNvPicPr>
            <a:picLocks noChangeAspect="1"/>
          </p:cNvPicPr>
          <p:nvPr/>
        </p:nvPicPr>
        <p:blipFill>
          <a:blip r:embed="rId3"/>
          <a:stretch>
            <a:fillRect/>
          </a:stretch>
        </p:blipFill>
        <p:spPr>
          <a:xfrm>
            <a:off x="2335378" y="1115568"/>
            <a:ext cx="1783080" cy="1481328"/>
          </a:xfrm>
          <a:prstGeom prst="rect">
            <a:avLst/>
          </a:prstGeom>
        </p:spPr>
      </p:pic>
      <p:sp>
        <p:nvSpPr>
          <p:cNvPr id="22" name="Text 17"/>
          <p:cNvSpPr txBox="1"/>
          <p:nvPr/>
        </p:nvSpPr>
        <p:spPr>
          <a:xfrm>
            <a:off x="2390242" y="2322576"/>
            <a:ext cx="1673352" cy="201168"/>
          </a:xfrm>
          <a:prstGeom prst="rect">
            <a:avLst/>
          </a:prstGeom>
          <a:solidFill>
            <a:srgbClr val="17382B">
              <a:alpha val="88000"/>
            </a:srgbClr>
          </a:solidFill>
          <a:ln/>
        </p:spPr>
        <p:txBody>
          <a:bodyPr wrap="square" lIns="0" tIns="50800" rIns="5080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The map on the phone</a:t>
            </a:r>
            <a:endParaRPr lang="en-US" sz="800" dirty="0"/>
          </a:p>
        </p:txBody>
      </p:sp>
      <p:sp>
        <p:nvSpPr>
          <p:cNvPr id="23" name="Shape 18"/>
          <p:cNvSpPr/>
          <p:nvPr/>
        </p:nvSpPr>
        <p:spPr>
          <a:xfrm>
            <a:off x="2408530" y="987552"/>
            <a:ext cx="228600" cy="228600"/>
          </a:xfrm>
          <a:prstGeom prst="ellipse">
            <a:avLst/>
          </a:prstGeom>
          <a:solidFill>
            <a:srgbClr val="2E7D5B"/>
          </a:solidFill>
          <a:ln w="12700">
            <a:solidFill>
              <a:srgbClr val="2E7D5B"/>
            </a:solidFill>
            <a:prstDash val="solid"/>
          </a:ln>
        </p:spPr>
      </p:sp>
      <p:sp>
        <p:nvSpPr>
          <p:cNvPr id="24" name="Text 19"/>
          <p:cNvSpPr txBox="1"/>
          <p:nvPr/>
        </p:nvSpPr>
        <p:spPr>
          <a:xfrm>
            <a:off x="2408530" y="987552"/>
            <a:ext cx="22860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0"/>
          <p:cNvSpPr txBox="1"/>
          <p:nvPr/>
        </p:nvSpPr>
        <p:spPr>
          <a:xfrm>
            <a:off x="2426818" y="2642616"/>
            <a:ext cx="1600200" cy="182880"/>
          </a:xfrm>
          <a:prstGeom prst="rect">
            <a:avLst/>
          </a:prstGeom>
          <a:noFill/>
          <a:ln/>
        </p:spPr>
        <p:txBody>
          <a:bodyPr wrap="square" lIns="0" tIns="0" rIns="0" bIns="0" rtlCol="0" anchor="ctr"/>
          <a:lstStyle/>
          <a:p>
            <a:pPr indent="0" marL="0">
              <a:buNone/>
            </a:pPr>
            <a:r>
              <a:rPr lang="en-US" sz="900" b="1" spc="100" kern="0" dirty="0">
                <a:solidFill>
                  <a:srgbClr val="2E7D5B"/>
                </a:solidFill>
                <a:latin typeface="Calibri" pitchFamily="34" charset="0"/>
                <a:ea typeface="Calibri" pitchFamily="34" charset="-122"/>
                <a:cs typeface="Calibri" pitchFamily="34" charset="-120"/>
              </a:rPr>
              <a:t>SEP 5 TO 7</a:t>
            </a:r>
            <a:endParaRPr lang="en-US" sz="900" dirty="0"/>
          </a:p>
        </p:txBody>
      </p:sp>
      <p:sp>
        <p:nvSpPr>
          <p:cNvPr id="26" name="Text 21"/>
          <p:cNvSpPr txBox="1"/>
          <p:nvPr/>
        </p:nvSpPr>
        <p:spPr>
          <a:xfrm>
            <a:off x="2426818" y="2825496"/>
            <a:ext cx="1600200" cy="256032"/>
          </a:xfrm>
          <a:prstGeom prst="rect">
            <a:avLst/>
          </a:prstGeom>
          <a:noFill/>
          <a:ln/>
        </p:spPr>
        <p:txBody>
          <a:bodyPr wrap="square" lIns="0" tIns="0" rIns="0" bIns="0" rtlCol="0" anchor="ctr"/>
          <a:lstStyle/>
          <a:p>
            <a:pPr indent="0" marL="0">
              <a:buNone/>
            </a:pPr>
            <a:r>
              <a:rPr lang="en-US" sz="1350" b="1" dirty="0">
                <a:solidFill>
                  <a:srgbClr val="17221E"/>
                </a:solidFill>
                <a:latin typeface="Calibri" pitchFamily="34" charset="0"/>
                <a:ea typeface="Calibri" pitchFamily="34" charset="-122"/>
                <a:cs typeface="Calibri" pitchFamily="34" charset="-120"/>
              </a:rPr>
              <a:t>Make it personal</a:t>
            </a:r>
            <a:endParaRPr lang="en-US" sz="1350" dirty="0"/>
          </a:p>
        </p:txBody>
      </p:sp>
      <p:sp>
        <p:nvSpPr>
          <p:cNvPr id="27" name="Shape 22"/>
          <p:cNvSpPr/>
          <p:nvPr/>
        </p:nvSpPr>
        <p:spPr>
          <a:xfrm>
            <a:off x="2408530" y="3127248"/>
            <a:ext cx="1636776" cy="713232"/>
          </a:xfrm>
          <a:prstGeom prst="roundRect">
            <a:avLst>
              <a:gd name="adj" fmla="val 6410"/>
            </a:avLst>
          </a:prstGeom>
          <a:solidFill>
            <a:srgbClr val="EAF3EF"/>
          </a:solidFill>
          <a:ln w="12700">
            <a:solidFill>
              <a:srgbClr val="EAF3EF"/>
            </a:solidFill>
            <a:prstDash val="solid"/>
          </a:ln>
        </p:spPr>
      </p:sp>
      <p:sp>
        <p:nvSpPr>
          <p:cNvPr id="28" name="Shape 23"/>
          <p:cNvSpPr/>
          <p:nvPr/>
        </p:nvSpPr>
        <p:spPr>
          <a:xfrm>
            <a:off x="2408530" y="3127248"/>
            <a:ext cx="41148" cy="713232"/>
          </a:xfrm>
          <a:prstGeom prst="rect">
            <a:avLst/>
          </a:prstGeom>
          <a:solidFill>
            <a:srgbClr val="2E7D5B"/>
          </a:solidFill>
          <a:ln w="12700">
            <a:solidFill>
              <a:srgbClr val="2E7D5B"/>
            </a:solidFill>
            <a:prstDash val="solid"/>
          </a:ln>
        </p:spPr>
      </p:sp>
      <p:sp>
        <p:nvSpPr>
          <p:cNvPr id="29" name="Text 24"/>
          <p:cNvSpPr txBox="1"/>
          <p:nvPr/>
        </p:nvSpPr>
        <p:spPr>
          <a:xfrm>
            <a:off x="2499970" y="3145536"/>
            <a:ext cx="1508760" cy="676656"/>
          </a:xfrm>
          <a:prstGeom prst="rect">
            <a:avLst/>
          </a:prstGeom>
          <a:noFill/>
          <a:ln/>
        </p:spPr>
        <p:txBody>
          <a:bodyPr wrap="square" lIns="0" tIns="0" rIns="0" bIns="0" rtlCol="0" anchor="t"/>
          <a:lstStyle/>
          <a:p>
            <a:pPr indent="0" marL="0">
              <a:buNone/>
            </a:pPr>
            <a:r>
              <a:rPr lang="en-US" sz="700" b="1" dirty="0">
                <a:solidFill>
                  <a:srgbClr val="2E7D5B"/>
                </a:solidFill>
                <a:latin typeface="Calibri" pitchFamily="34" charset="0"/>
                <a:ea typeface="Calibri" pitchFamily="34" charset="-122"/>
                <a:cs typeface="Calibri" pitchFamily="34" charset="-120"/>
              </a:rPr>
              <a:t>WE ASKED</a:t>
            </a:r>
            <a:endParaRPr lang="en-US" sz="700" dirty="0"/>
          </a:p>
          <a:p>
            <a:pPr indent="0" marL="0">
              <a:buNone/>
            </a:pPr>
            <a:r>
              <a:rPr lang="en-US" sz="1000" i="1" dirty="0">
                <a:solidFill>
                  <a:srgbClr val="17221E"/>
                </a:solidFill>
                <a:latin typeface="Calibri" pitchFamily="34" charset="0"/>
                <a:ea typeface="Calibri" pitchFamily="34" charset="-122"/>
                <a:cs typeface="Calibri" pitchFamily="34" charset="-120"/>
              </a:rPr>
              <a:t>“Put it on a phone and alert me when I am close.”</a:t>
            </a:r>
            <a:endParaRPr lang="en-US" sz="700" dirty="0"/>
          </a:p>
        </p:txBody>
      </p:sp>
      <p:sp>
        <p:nvSpPr>
          <p:cNvPr id="30" name="Text 25"/>
          <p:cNvSpPr txBox="1"/>
          <p:nvPr/>
        </p:nvSpPr>
        <p:spPr>
          <a:xfrm>
            <a:off x="2426818" y="3895344"/>
            <a:ext cx="1600200" cy="713232"/>
          </a:xfrm>
          <a:prstGeom prst="rect">
            <a:avLst/>
          </a:prstGeom>
          <a:noFill/>
          <a:ln/>
        </p:spPr>
        <p:txBody>
          <a:bodyPr wrap="square" lIns="0" tIns="0" rIns="0" bIns="0" rtlCol="0" anchor="t"/>
          <a:lstStyle/>
          <a:p>
            <a:pPr indent="0" marL="0">
              <a:buNone/>
            </a:pPr>
            <a:r>
              <a:rPr lang="en-US" sz="700" b="1" dirty="0">
                <a:solidFill>
                  <a:srgbClr val="3B6FB6"/>
                </a:solidFill>
                <a:latin typeface="Calibri" pitchFamily="34" charset="0"/>
                <a:ea typeface="Calibri" pitchFamily="34" charset="-122"/>
                <a:cs typeface="Calibri" pitchFamily="34" charset="-120"/>
              </a:rPr>
              <a:t>WE GOT</a:t>
            </a:r>
            <a:endParaRPr lang="en-US" sz="700" dirty="0"/>
          </a:p>
          <a:p>
            <a:pPr indent="0" marL="0">
              <a:buNone/>
            </a:pPr>
            <a:r>
              <a:rPr lang="en-US" sz="1000" dirty="0">
                <a:solidFill>
                  <a:srgbClr val="17221E"/>
                </a:solidFill>
                <a:latin typeface="Calibri" pitchFamily="34" charset="0"/>
                <a:ea typeface="Calibri" pitchFamily="34" charset="-122"/>
                <a:cs typeface="Calibri" pitchFamily="34" charset="-120"/>
              </a:rPr>
              <a:t>An Android app, a location button, background alerts, a simpler map.</a:t>
            </a:r>
            <a:endParaRPr lang="en-US" sz="700" dirty="0"/>
          </a:p>
        </p:txBody>
      </p:sp>
      <p:sp>
        <p:nvSpPr>
          <p:cNvPr id="31" name="Text 26"/>
          <p:cNvSpPr txBox="1"/>
          <p:nvPr/>
        </p:nvSpPr>
        <p:spPr>
          <a:xfrm>
            <a:off x="4118458" y="1810512"/>
            <a:ext cx="128016" cy="182880"/>
          </a:xfrm>
          <a:prstGeom prst="rect">
            <a:avLst/>
          </a:prstGeom>
          <a:noFill/>
          <a:ln/>
        </p:spPr>
        <p:txBody>
          <a:bodyPr wrap="square" lIns="0" tIns="0" rIns="0" bIns="0" rtlCol="0" anchor="ctr"/>
          <a:lstStyle/>
          <a:p>
            <a:pPr algn="ctr" indent="0" marL="0">
              <a:buNone/>
            </a:pPr>
            <a:r>
              <a:rPr lang="en-US" sz="1000" dirty="0">
                <a:solidFill>
                  <a:srgbClr val="2E7D5B"/>
                </a:solidFill>
                <a:latin typeface="Arial" pitchFamily="34" charset="0"/>
                <a:ea typeface="Arial" pitchFamily="34" charset="-122"/>
                <a:cs typeface="Arial" pitchFamily="34" charset="-120"/>
              </a:rPr>
              <a:t>▶</a:t>
            </a:r>
            <a:endParaRPr lang="en-US" sz="1000" dirty="0"/>
          </a:p>
        </p:txBody>
      </p:sp>
      <p:sp>
        <p:nvSpPr>
          <p:cNvPr id="32" name="Shape 27"/>
          <p:cNvSpPr/>
          <p:nvPr/>
        </p:nvSpPr>
        <p:spPr>
          <a:xfrm>
            <a:off x="4228186" y="1097280"/>
            <a:ext cx="1819656" cy="3529584"/>
          </a:xfrm>
          <a:prstGeom prst="roundRect">
            <a:avLst>
              <a:gd name="adj" fmla="val 6030"/>
            </a:avLst>
          </a:prstGeom>
          <a:solidFill>
            <a:srgbClr val="FFFFFF"/>
          </a:solidFill>
          <a:ln w="12700">
            <a:solidFill>
              <a:srgbClr val="DBE6E0"/>
            </a:solidFill>
            <a:prstDash val="solid"/>
          </a:ln>
        </p:spPr>
      </p:sp>
      <p:pic>
        <p:nvPicPr>
          <p:cNvPr id="33" name="Image 3" descr="Real Iowa DOT crashes, live">
            <a:hlinkClick r:id="rId5" tooltip="Real Iowa DOT crashes, live"/>
          </p:cNvPr>
          <p:cNvPicPr>
            <a:picLocks noChangeAspect="1"/>
          </p:cNvPicPr>
          <p:nvPr/>
        </p:nvPicPr>
        <p:blipFill>
          <a:blip r:embed="rId4"/>
          <a:stretch>
            <a:fillRect/>
          </a:stretch>
        </p:blipFill>
        <p:spPr>
          <a:xfrm>
            <a:off x="4246474" y="1115568"/>
            <a:ext cx="1783080" cy="1481328"/>
          </a:xfrm>
          <a:prstGeom prst="rect">
            <a:avLst/>
          </a:prstGeom>
        </p:spPr>
      </p:pic>
      <p:sp>
        <p:nvSpPr>
          <p:cNvPr id="34" name="Text 28"/>
          <p:cNvSpPr txBox="1"/>
          <p:nvPr/>
        </p:nvSpPr>
        <p:spPr>
          <a:xfrm>
            <a:off x="4301338" y="2322576"/>
            <a:ext cx="1673352" cy="201168"/>
          </a:xfrm>
          <a:prstGeom prst="rect">
            <a:avLst/>
          </a:prstGeom>
          <a:solidFill>
            <a:srgbClr val="17382B">
              <a:alpha val="88000"/>
            </a:srgbClr>
          </a:solidFill>
          <a:ln/>
        </p:spPr>
        <p:txBody>
          <a:bodyPr wrap="square" lIns="0" tIns="50800" rIns="5080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Real Iowa DOT crashes, live</a:t>
            </a:r>
            <a:endParaRPr lang="en-US" sz="800" dirty="0"/>
          </a:p>
        </p:txBody>
      </p:sp>
      <p:sp>
        <p:nvSpPr>
          <p:cNvPr id="35" name="Shape 29"/>
          <p:cNvSpPr/>
          <p:nvPr/>
        </p:nvSpPr>
        <p:spPr>
          <a:xfrm>
            <a:off x="4319626" y="987552"/>
            <a:ext cx="228600" cy="228600"/>
          </a:xfrm>
          <a:prstGeom prst="ellipse">
            <a:avLst/>
          </a:prstGeom>
          <a:solidFill>
            <a:srgbClr val="2E7D5B"/>
          </a:solidFill>
          <a:ln w="12700">
            <a:solidFill>
              <a:srgbClr val="2E7D5B"/>
            </a:solidFill>
            <a:prstDash val="solid"/>
          </a:ln>
        </p:spPr>
      </p:sp>
      <p:sp>
        <p:nvSpPr>
          <p:cNvPr id="36" name="Text 30"/>
          <p:cNvSpPr txBox="1"/>
          <p:nvPr/>
        </p:nvSpPr>
        <p:spPr>
          <a:xfrm>
            <a:off x="4319626" y="987552"/>
            <a:ext cx="22860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Text 31"/>
          <p:cNvSpPr txBox="1"/>
          <p:nvPr/>
        </p:nvSpPr>
        <p:spPr>
          <a:xfrm>
            <a:off x="4337914" y="2642616"/>
            <a:ext cx="1600200" cy="182880"/>
          </a:xfrm>
          <a:prstGeom prst="rect">
            <a:avLst/>
          </a:prstGeom>
          <a:noFill/>
          <a:ln/>
        </p:spPr>
        <p:txBody>
          <a:bodyPr wrap="square" lIns="0" tIns="0" rIns="0" bIns="0" rtlCol="0" anchor="ctr"/>
          <a:lstStyle/>
          <a:p>
            <a:pPr indent="0" marL="0">
              <a:buNone/>
            </a:pPr>
            <a:r>
              <a:rPr lang="en-US" sz="900" b="1" spc="100" kern="0" dirty="0">
                <a:solidFill>
                  <a:srgbClr val="2E7D5B"/>
                </a:solidFill>
                <a:latin typeface="Calibri" pitchFamily="34" charset="0"/>
                <a:ea typeface="Calibri" pitchFamily="34" charset="-122"/>
                <a:cs typeface="Calibri" pitchFamily="34" charset="-120"/>
              </a:rPr>
              <a:t>SEP 12</a:t>
            </a:r>
            <a:endParaRPr lang="en-US" sz="900" dirty="0"/>
          </a:p>
        </p:txBody>
      </p:sp>
      <p:sp>
        <p:nvSpPr>
          <p:cNvPr id="38" name="Text 32"/>
          <p:cNvSpPr txBox="1"/>
          <p:nvPr/>
        </p:nvSpPr>
        <p:spPr>
          <a:xfrm>
            <a:off x="4337914" y="2825496"/>
            <a:ext cx="1600200" cy="256032"/>
          </a:xfrm>
          <a:prstGeom prst="rect">
            <a:avLst/>
          </a:prstGeom>
          <a:noFill/>
          <a:ln/>
        </p:spPr>
        <p:txBody>
          <a:bodyPr wrap="square" lIns="0" tIns="0" rIns="0" bIns="0" rtlCol="0" anchor="ctr"/>
          <a:lstStyle/>
          <a:p>
            <a:pPr indent="0" marL="0">
              <a:buNone/>
            </a:pPr>
            <a:r>
              <a:rPr lang="en-US" sz="1350" b="1" dirty="0">
                <a:solidFill>
                  <a:srgbClr val="17221E"/>
                </a:solidFill>
                <a:latin typeface="Calibri" pitchFamily="34" charset="0"/>
                <a:ea typeface="Calibri" pitchFamily="34" charset="-122"/>
                <a:cs typeface="Calibri" pitchFamily="34" charset="-120"/>
              </a:rPr>
              <a:t>Make it real</a:t>
            </a:r>
            <a:endParaRPr lang="en-US" sz="1350" dirty="0"/>
          </a:p>
        </p:txBody>
      </p:sp>
      <p:sp>
        <p:nvSpPr>
          <p:cNvPr id="39" name="Shape 33"/>
          <p:cNvSpPr/>
          <p:nvPr/>
        </p:nvSpPr>
        <p:spPr>
          <a:xfrm>
            <a:off x="4319626" y="3127248"/>
            <a:ext cx="1636776" cy="713232"/>
          </a:xfrm>
          <a:prstGeom prst="roundRect">
            <a:avLst>
              <a:gd name="adj" fmla="val 6410"/>
            </a:avLst>
          </a:prstGeom>
          <a:solidFill>
            <a:srgbClr val="EAF3EF"/>
          </a:solidFill>
          <a:ln w="12700">
            <a:solidFill>
              <a:srgbClr val="EAF3EF"/>
            </a:solidFill>
            <a:prstDash val="solid"/>
          </a:ln>
        </p:spPr>
      </p:sp>
      <p:sp>
        <p:nvSpPr>
          <p:cNvPr id="40" name="Shape 34"/>
          <p:cNvSpPr/>
          <p:nvPr/>
        </p:nvSpPr>
        <p:spPr>
          <a:xfrm>
            <a:off x="4319626" y="3127248"/>
            <a:ext cx="41148" cy="713232"/>
          </a:xfrm>
          <a:prstGeom prst="rect">
            <a:avLst/>
          </a:prstGeom>
          <a:solidFill>
            <a:srgbClr val="2E7D5B"/>
          </a:solidFill>
          <a:ln w="12700">
            <a:solidFill>
              <a:srgbClr val="2E7D5B"/>
            </a:solidFill>
            <a:prstDash val="solid"/>
          </a:ln>
        </p:spPr>
      </p:sp>
      <p:sp>
        <p:nvSpPr>
          <p:cNvPr id="41" name="Text 35"/>
          <p:cNvSpPr txBox="1"/>
          <p:nvPr/>
        </p:nvSpPr>
        <p:spPr>
          <a:xfrm>
            <a:off x="4411066" y="3145536"/>
            <a:ext cx="1508760" cy="676656"/>
          </a:xfrm>
          <a:prstGeom prst="rect">
            <a:avLst/>
          </a:prstGeom>
          <a:noFill/>
          <a:ln/>
        </p:spPr>
        <p:txBody>
          <a:bodyPr wrap="square" lIns="0" tIns="0" rIns="0" bIns="0" rtlCol="0" anchor="t"/>
          <a:lstStyle/>
          <a:p>
            <a:pPr indent="0" marL="0">
              <a:buNone/>
            </a:pPr>
            <a:r>
              <a:rPr lang="en-US" sz="700" b="1" dirty="0">
                <a:solidFill>
                  <a:srgbClr val="2E7D5B"/>
                </a:solidFill>
                <a:latin typeface="Calibri" pitchFamily="34" charset="0"/>
                <a:ea typeface="Calibri" pitchFamily="34" charset="-122"/>
                <a:cs typeface="Calibri" pitchFamily="34" charset="-120"/>
              </a:rPr>
              <a:t>WE ASKED</a:t>
            </a:r>
            <a:endParaRPr lang="en-US" sz="700" dirty="0"/>
          </a:p>
          <a:p>
            <a:pPr indent="0" marL="0">
              <a:buNone/>
            </a:pPr>
            <a:r>
              <a:rPr lang="en-US" sz="1000" i="1" dirty="0">
                <a:solidFill>
                  <a:srgbClr val="17221E"/>
                </a:solidFill>
                <a:latin typeface="Calibri" pitchFamily="34" charset="0"/>
                <a:ea typeface="Calibri" pitchFamily="34" charset="-122"/>
                <a:cs typeface="Calibri" pitchFamily="34" charset="-120"/>
              </a:rPr>
              <a:t>“Use real crash data and put it online.”</a:t>
            </a:r>
            <a:endParaRPr lang="en-US" sz="700" dirty="0"/>
          </a:p>
        </p:txBody>
      </p:sp>
      <p:sp>
        <p:nvSpPr>
          <p:cNvPr id="42" name="Text 36"/>
          <p:cNvSpPr txBox="1"/>
          <p:nvPr/>
        </p:nvSpPr>
        <p:spPr>
          <a:xfrm>
            <a:off x="4337914" y="3895344"/>
            <a:ext cx="1600200" cy="713232"/>
          </a:xfrm>
          <a:prstGeom prst="rect">
            <a:avLst/>
          </a:prstGeom>
          <a:noFill/>
          <a:ln/>
        </p:spPr>
        <p:txBody>
          <a:bodyPr wrap="square" lIns="0" tIns="0" rIns="0" bIns="0" rtlCol="0" anchor="t"/>
          <a:lstStyle/>
          <a:p>
            <a:pPr indent="0" marL="0">
              <a:buNone/>
            </a:pPr>
            <a:r>
              <a:rPr lang="en-US" sz="700" b="1" dirty="0">
                <a:solidFill>
                  <a:srgbClr val="3B6FB6"/>
                </a:solidFill>
                <a:latin typeface="Calibri" pitchFamily="34" charset="0"/>
                <a:ea typeface="Calibri" pitchFamily="34" charset="-122"/>
                <a:cs typeface="Calibri" pitchFamily="34" charset="-120"/>
              </a:rPr>
              <a:t>WE GOT</a:t>
            </a:r>
            <a:endParaRPr lang="en-US" sz="700" dirty="0"/>
          </a:p>
          <a:p>
            <a:pPr indent="0" marL="0">
              <a:buNone/>
            </a:pPr>
            <a:r>
              <a:rPr lang="en-US" sz="1000" dirty="0">
                <a:solidFill>
                  <a:srgbClr val="17221E"/>
                </a:solidFill>
                <a:latin typeface="Calibri" pitchFamily="34" charset="0"/>
                <a:ea typeface="Calibri" pitchFamily="34" charset="-122"/>
                <a:cs typeface="Calibri" pitchFamily="34" charset="-120"/>
              </a:rPr>
              <a:t>Iowa DOT data and a live website, pauseforpawsusa.org.</a:t>
            </a:r>
            <a:endParaRPr lang="en-US" sz="700" dirty="0"/>
          </a:p>
        </p:txBody>
      </p:sp>
      <p:sp>
        <p:nvSpPr>
          <p:cNvPr id="43" name="Text 37"/>
          <p:cNvSpPr txBox="1"/>
          <p:nvPr/>
        </p:nvSpPr>
        <p:spPr>
          <a:xfrm>
            <a:off x="6029554" y="1810512"/>
            <a:ext cx="128016" cy="182880"/>
          </a:xfrm>
          <a:prstGeom prst="rect">
            <a:avLst/>
          </a:prstGeom>
          <a:noFill/>
          <a:ln/>
        </p:spPr>
        <p:txBody>
          <a:bodyPr wrap="square" lIns="0" tIns="0" rIns="0" bIns="0" rtlCol="0" anchor="ctr"/>
          <a:lstStyle/>
          <a:p>
            <a:pPr algn="ctr" indent="0" marL="0">
              <a:buNone/>
            </a:pPr>
            <a:r>
              <a:rPr lang="en-US" sz="1000" dirty="0">
                <a:solidFill>
                  <a:srgbClr val="2E7D5B"/>
                </a:solidFill>
                <a:latin typeface="Arial" pitchFamily="34" charset="0"/>
                <a:ea typeface="Arial" pitchFamily="34" charset="-122"/>
                <a:cs typeface="Arial" pitchFamily="34" charset="-120"/>
              </a:rPr>
              <a:t>▶</a:t>
            </a:r>
            <a:endParaRPr lang="en-US" sz="1000" dirty="0"/>
          </a:p>
        </p:txBody>
      </p:sp>
      <p:sp>
        <p:nvSpPr>
          <p:cNvPr id="44" name="Shape 38"/>
          <p:cNvSpPr/>
          <p:nvPr/>
        </p:nvSpPr>
        <p:spPr>
          <a:xfrm>
            <a:off x="6139282" y="1097280"/>
            <a:ext cx="1819656" cy="3529584"/>
          </a:xfrm>
          <a:prstGeom prst="roundRect">
            <a:avLst>
              <a:gd name="adj" fmla="val 6030"/>
            </a:avLst>
          </a:prstGeom>
          <a:solidFill>
            <a:srgbClr val="FFFFFF"/>
          </a:solidFill>
          <a:ln w="12700">
            <a:solidFill>
              <a:srgbClr val="DBE6E0"/>
            </a:solidFill>
            <a:prstDash val="solid"/>
          </a:ln>
        </p:spPr>
      </p:sp>
      <p:pic>
        <p:nvPicPr>
          <p:cNvPr id="45" name="Image 4" descr="The driver message">    </p:cNvPr>
          <p:cNvPicPr>
            <a:picLocks noChangeAspect="1"/>
          </p:cNvPicPr>
          <p:nvPr/>
        </p:nvPicPr>
        <p:blipFill>
          <a:blip r:embed="rId6"/>
          <a:stretch>
            <a:fillRect/>
          </a:stretch>
        </p:blipFill>
        <p:spPr>
          <a:xfrm>
            <a:off x="6157570" y="1115568"/>
            <a:ext cx="1783080" cy="1481328"/>
          </a:xfrm>
          <a:prstGeom prst="rect">
            <a:avLst/>
          </a:prstGeom>
        </p:spPr>
      </p:pic>
      <p:sp>
        <p:nvSpPr>
          <p:cNvPr id="46" name="Text 39"/>
          <p:cNvSpPr txBox="1"/>
          <p:nvPr/>
        </p:nvSpPr>
        <p:spPr>
          <a:xfrm>
            <a:off x="6212434" y="2322576"/>
            <a:ext cx="1673352" cy="201168"/>
          </a:xfrm>
          <a:prstGeom prst="rect">
            <a:avLst/>
          </a:prstGeom>
          <a:solidFill>
            <a:srgbClr val="17382B">
              <a:alpha val="88000"/>
            </a:srgbClr>
          </a:solidFill>
          <a:ln/>
        </p:spPr>
        <p:txBody>
          <a:bodyPr wrap="square" lIns="0" tIns="50800" rIns="5080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The driver message</a:t>
            </a:r>
            <a:endParaRPr lang="en-US" sz="800" dirty="0"/>
          </a:p>
        </p:txBody>
      </p:sp>
      <p:sp>
        <p:nvSpPr>
          <p:cNvPr id="47" name="Shape 40"/>
          <p:cNvSpPr/>
          <p:nvPr/>
        </p:nvSpPr>
        <p:spPr>
          <a:xfrm>
            <a:off x="6230722" y="987552"/>
            <a:ext cx="228600" cy="228600"/>
          </a:xfrm>
          <a:prstGeom prst="ellipse">
            <a:avLst/>
          </a:prstGeom>
          <a:solidFill>
            <a:srgbClr val="2E7D5B"/>
          </a:solidFill>
          <a:ln w="12700">
            <a:solidFill>
              <a:srgbClr val="2E7D5B"/>
            </a:solidFill>
            <a:prstDash val="solid"/>
          </a:ln>
        </p:spPr>
      </p:sp>
      <p:sp>
        <p:nvSpPr>
          <p:cNvPr id="48" name="Text 41"/>
          <p:cNvSpPr txBox="1"/>
          <p:nvPr/>
        </p:nvSpPr>
        <p:spPr>
          <a:xfrm>
            <a:off x="6230722" y="987552"/>
            <a:ext cx="22860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9" name="Text 42"/>
          <p:cNvSpPr txBox="1"/>
          <p:nvPr/>
        </p:nvSpPr>
        <p:spPr>
          <a:xfrm>
            <a:off x="6249010" y="2642616"/>
            <a:ext cx="1600200" cy="182880"/>
          </a:xfrm>
          <a:prstGeom prst="rect">
            <a:avLst/>
          </a:prstGeom>
          <a:noFill/>
          <a:ln/>
        </p:spPr>
        <p:txBody>
          <a:bodyPr wrap="square" lIns="0" tIns="0" rIns="0" bIns="0" rtlCol="0" anchor="ctr"/>
          <a:lstStyle/>
          <a:p>
            <a:pPr indent="0" marL="0">
              <a:buNone/>
            </a:pPr>
            <a:r>
              <a:rPr lang="en-US" sz="900" b="1" spc="100" kern="0" dirty="0">
                <a:solidFill>
                  <a:srgbClr val="2E7D5B"/>
                </a:solidFill>
                <a:latin typeface="Calibri" pitchFamily="34" charset="0"/>
                <a:ea typeface="Calibri" pitchFamily="34" charset="-122"/>
                <a:cs typeface="Calibri" pitchFamily="34" charset="-120"/>
              </a:rPr>
              <a:t>SEP 14 TO 26</a:t>
            </a:r>
            <a:endParaRPr lang="en-US" sz="900" dirty="0"/>
          </a:p>
        </p:txBody>
      </p:sp>
      <p:sp>
        <p:nvSpPr>
          <p:cNvPr id="50" name="Text 43"/>
          <p:cNvSpPr txBox="1"/>
          <p:nvPr/>
        </p:nvSpPr>
        <p:spPr>
          <a:xfrm>
            <a:off x="6249010" y="2825496"/>
            <a:ext cx="1600200" cy="256032"/>
          </a:xfrm>
          <a:prstGeom prst="rect">
            <a:avLst/>
          </a:prstGeom>
          <a:noFill/>
          <a:ln/>
        </p:spPr>
        <p:txBody>
          <a:bodyPr wrap="square" lIns="0" tIns="0" rIns="0" bIns="0" rtlCol="0" anchor="ctr"/>
          <a:lstStyle/>
          <a:p>
            <a:pPr indent="0" marL="0">
              <a:buNone/>
            </a:pPr>
            <a:r>
              <a:rPr lang="en-US" sz="1350" b="1" dirty="0">
                <a:solidFill>
                  <a:srgbClr val="17221E"/>
                </a:solidFill>
                <a:latin typeface="Calibri" pitchFamily="34" charset="0"/>
                <a:ea typeface="Calibri" pitchFamily="34" charset="-122"/>
                <a:cs typeface="Calibri" pitchFamily="34" charset="-120"/>
              </a:rPr>
              <a:t>Listen and improve</a:t>
            </a:r>
            <a:endParaRPr lang="en-US" sz="1350" dirty="0"/>
          </a:p>
        </p:txBody>
      </p:sp>
      <p:sp>
        <p:nvSpPr>
          <p:cNvPr id="51" name="Shape 44"/>
          <p:cNvSpPr/>
          <p:nvPr/>
        </p:nvSpPr>
        <p:spPr>
          <a:xfrm>
            <a:off x="6230722" y="3127248"/>
            <a:ext cx="1636776" cy="713232"/>
          </a:xfrm>
          <a:prstGeom prst="roundRect">
            <a:avLst>
              <a:gd name="adj" fmla="val 6410"/>
            </a:avLst>
          </a:prstGeom>
          <a:solidFill>
            <a:srgbClr val="EAF3EF"/>
          </a:solidFill>
          <a:ln w="12700">
            <a:solidFill>
              <a:srgbClr val="EAF3EF"/>
            </a:solidFill>
            <a:prstDash val="solid"/>
          </a:ln>
        </p:spPr>
      </p:sp>
      <p:sp>
        <p:nvSpPr>
          <p:cNvPr id="52" name="Shape 45"/>
          <p:cNvSpPr/>
          <p:nvPr/>
        </p:nvSpPr>
        <p:spPr>
          <a:xfrm>
            <a:off x="6230722" y="3127248"/>
            <a:ext cx="41148" cy="713232"/>
          </a:xfrm>
          <a:prstGeom prst="rect">
            <a:avLst/>
          </a:prstGeom>
          <a:solidFill>
            <a:srgbClr val="2E7D5B"/>
          </a:solidFill>
          <a:ln w="12700">
            <a:solidFill>
              <a:srgbClr val="2E7D5B"/>
            </a:solidFill>
            <a:prstDash val="solid"/>
          </a:ln>
        </p:spPr>
      </p:sp>
      <p:sp>
        <p:nvSpPr>
          <p:cNvPr id="53" name="Text 46"/>
          <p:cNvSpPr txBox="1"/>
          <p:nvPr/>
        </p:nvSpPr>
        <p:spPr>
          <a:xfrm>
            <a:off x="6322162" y="3145536"/>
            <a:ext cx="1508760" cy="676656"/>
          </a:xfrm>
          <a:prstGeom prst="rect">
            <a:avLst/>
          </a:prstGeom>
          <a:noFill/>
          <a:ln/>
        </p:spPr>
        <p:txBody>
          <a:bodyPr wrap="square" lIns="0" tIns="0" rIns="0" bIns="0" rtlCol="0" anchor="t"/>
          <a:lstStyle/>
          <a:p>
            <a:pPr indent="0" marL="0">
              <a:buNone/>
            </a:pPr>
            <a:r>
              <a:rPr lang="en-US" sz="700" b="1" dirty="0">
                <a:solidFill>
                  <a:srgbClr val="2E7D5B"/>
                </a:solidFill>
                <a:latin typeface="Calibri" pitchFamily="34" charset="0"/>
                <a:ea typeface="Calibri" pitchFamily="34" charset="-122"/>
                <a:cs typeface="Calibri" pitchFamily="34" charset="-120"/>
              </a:rPr>
              <a:t>WE ASKED</a:t>
            </a:r>
            <a:endParaRPr lang="en-US" sz="700" dirty="0"/>
          </a:p>
          <a:p>
            <a:pPr indent="0" marL="0">
              <a:buNone/>
            </a:pPr>
            <a:r>
              <a:rPr lang="en-US" sz="1000" i="1" dirty="0">
                <a:solidFill>
                  <a:srgbClr val="17221E"/>
                </a:solidFill>
                <a:latin typeface="Calibri" pitchFamily="34" charset="0"/>
                <a:ea typeface="Calibri" pitchFamily="34" charset="-122"/>
                <a:cs typeface="Calibri" pitchFamily="34" charset="-120"/>
              </a:rPr>
              <a:t>“Make it useful, and fix what testers found.”</a:t>
            </a:r>
            <a:endParaRPr lang="en-US" sz="700" dirty="0"/>
          </a:p>
        </p:txBody>
      </p:sp>
      <p:sp>
        <p:nvSpPr>
          <p:cNvPr id="54" name="Text 47"/>
          <p:cNvSpPr txBox="1"/>
          <p:nvPr/>
        </p:nvSpPr>
        <p:spPr>
          <a:xfrm>
            <a:off x="6249010" y="3895344"/>
            <a:ext cx="1600200" cy="713232"/>
          </a:xfrm>
          <a:prstGeom prst="rect">
            <a:avLst/>
          </a:prstGeom>
          <a:noFill/>
          <a:ln/>
        </p:spPr>
        <p:txBody>
          <a:bodyPr wrap="square" lIns="0" tIns="0" rIns="0" bIns="0" rtlCol="0" anchor="t"/>
          <a:lstStyle/>
          <a:p>
            <a:pPr indent="0" marL="0">
              <a:buNone/>
            </a:pPr>
            <a:r>
              <a:rPr lang="en-US" sz="700" b="1" dirty="0">
                <a:solidFill>
                  <a:srgbClr val="3B6FB6"/>
                </a:solidFill>
                <a:latin typeface="Calibri" pitchFamily="34" charset="0"/>
                <a:ea typeface="Calibri" pitchFamily="34" charset="-122"/>
                <a:cs typeface="Calibri" pitchFamily="34" charset="-120"/>
              </a:rPr>
              <a:t>WE GOT</a:t>
            </a:r>
            <a:endParaRPr lang="en-US" sz="700" dirty="0"/>
          </a:p>
          <a:p>
            <a:pPr indent="0" marL="0">
              <a:buNone/>
            </a:pPr>
            <a:r>
              <a:rPr lang="en-US" sz="1000" dirty="0">
                <a:solidFill>
                  <a:srgbClr val="17221E"/>
                </a:solidFill>
                <a:latin typeface="Calibri" pitchFamily="34" charset="0"/>
                <a:ea typeface="Calibri" pitchFamily="34" charset="-122"/>
                <a:cs typeface="Calibri" pitchFamily="34" charset="-120"/>
              </a:rPr>
              <a:t>ZIP search, year compare, voice alerts, an on/off switch, a fence cost tool.</a:t>
            </a:r>
            <a:endParaRPr lang="en-US" sz="700" dirty="0"/>
          </a:p>
        </p:txBody>
      </p:sp>
      <p:sp>
        <p:nvSpPr>
          <p:cNvPr id="55" name="Text 48"/>
          <p:cNvSpPr txBox="1"/>
          <p:nvPr/>
        </p:nvSpPr>
        <p:spPr>
          <a:xfrm>
            <a:off x="7940650" y="1810512"/>
            <a:ext cx="128016" cy="182880"/>
          </a:xfrm>
          <a:prstGeom prst="rect">
            <a:avLst/>
          </a:prstGeom>
          <a:noFill/>
          <a:ln/>
        </p:spPr>
        <p:txBody>
          <a:bodyPr wrap="square" lIns="0" tIns="0" rIns="0" bIns="0" rtlCol="0" anchor="ctr"/>
          <a:lstStyle/>
          <a:p>
            <a:pPr algn="ctr" indent="0" marL="0">
              <a:buNone/>
            </a:pPr>
            <a:r>
              <a:rPr lang="en-US" sz="1000" dirty="0">
                <a:solidFill>
                  <a:srgbClr val="2E7D5B"/>
                </a:solidFill>
                <a:latin typeface="Arial" pitchFamily="34" charset="0"/>
                <a:ea typeface="Arial" pitchFamily="34" charset="-122"/>
                <a:cs typeface="Arial" pitchFamily="34" charset="-120"/>
              </a:rPr>
              <a:t>▶</a:t>
            </a:r>
            <a:endParaRPr lang="en-US" sz="1000" dirty="0"/>
          </a:p>
        </p:txBody>
      </p:sp>
      <p:sp>
        <p:nvSpPr>
          <p:cNvPr id="56" name="Shape 49"/>
          <p:cNvSpPr/>
          <p:nvPr/>
        </p:nvSpPr>
        <p:spPr>
          <a:xfrm>
            <a:off x="8050378" y="1097280"/>
            <a:ext cx="1819656" cy="3529584"/>
          </a:xfrm>
          <a:prstGeom prst="roundRect">
            <a:avLst>
              <a:gd name="adj" fmla="val 6030"/>
            </a:avLst>
          </a:prstGeom>
          <a:solidFill>
            <a:srgbClr val="FFFFFF"/>
          </a:solidFill>
          <a:ln w="12700">
            <a:solidFill>
              <a:srgbClr val="DBE6E0"/>
            </a:solidFill>
            <a:prstDash val="solid"/>
          </a:ln>
        </p:spPr>
      </p:sp>
      <p:pic>
        <p:nvPicPr>
          <p:cNvPr id="57" name="Image 5" descr="Approved Oct 13">
            <a:hlinkClick r:id="rId8" tooltip="Approved Oct 13"/>
          </p:cNvPr>
          <p:cNvPicPr>
            <a:picLocks noChangeAspect="1"/>
          </p:cNvPicPr>
          <p:nvPr/>
        </p:nvPicPr>
        <p:blipFill>
          <a:blip r:embed="rId7"/>
          <a:stretch>
            <a:fillRect/>
          </a:stretch>
        </p:blipFill>
        <p:spPr>
          <a:xfrm>
            <a:off x="8068666" y="1115568"/>
            <a:ext cx="1783080" cy="1481328"/>
          </a:xfrm>
          <a:prstGeom prst="rect">
            <a:avLst/>
          </a:prstGeom>
        </p:spPr>
      </p:pic>
      <p:sp>
        <p:nvSpPr>
          <p:cNvPr id="58" name="Text 50"/>
          <p:cNvSpPr txBox="1"/>
          <p:nvPr/>
        </p:nvSpPr>
        <p:spPr>
          <a:xfrm>
            <a:off x="8123530" y="2322576"/>
            <a:ext cx="1673352" cy="201168"/>
          </a:xfrm>
          <a:prstGeom prst="rect">
            <a:avLst/>
          </a:prstGeom>
          <a:solidFill>
            <a:srgbClr val="17382B">
              <a:alpha val="88000"/>
            </a:srgbClr>
          </a:solidFill>
          <a:ln/>
        </p:spPr>
        <p:txBody>
          <a:bodyPr wrap="square" lIns="0" tIns="50800" rIns="5080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Approved Oct 13</a:t>
            </a:r>
            <a:endParaRPr lang="en-US" sz="800" dirty="0"/>
          </a:p>
        </p:txBody>
      </p:sp>
      <p:sp>
        <p:nvSpPr>
          <p:cNvPr id="59" name="Shape 51"/>
          <p:cNvSpPr/>
          <p:nvPr/>
        </p:nvSpPr>
        <p:spPr>
          <a:xfrm>
            <a:off x="8141818" y="987552"/>
            <a:ext cx="228600" cy="228600"/>
          </a:xfrm>
          <a:prstGeom prst="ellipse">
            <a:avLst/>
          </a:prstGeom>
          <a:solidFill>
            <a:srgbClr val="2E7D5B"/>
          </a:solidFill>
          <a:ln w="12700">
            <a:solidFill>
              <a:srgbClr val="2E7D5B"/>
            </a:solidFill>
            <a:prstDash val="solid"/>
          </a:ln>
        </p:spPr>
      </p:sp>
      <p:sp>
        <p:nvSpPr>
          <p:cNvPr id="60" name="Text 52"/>
          <p:cNvSpPr txBox="1"/>
          <p:nvPr/>
        </p:nvSpPr>
        <p:spPr>
          <a:xfrm>
            <a:off x="8141818" y="987552"/>
            <a:ext cx="22860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1" name="Text 53"/>
          <p:cNvSpPr txBox="1"/>
          <p:nvPr/>
        </p:nvSpPr>
        <p:spPr>
          <a:xfrm>
            <a:off x="8160106" y="2642616"/>
            <a:ext cx="1600200" cy="182880"/>
          </a:xfrm>
          <a:prstGeom prst="rect">
            <a:avLst/>
          </a:prstGeom>
          <a:noFill/>
          <a:ln/>
        </p:spPr>
        <p:txBody>
          <a:bodyPr wrap="square" lIns="0" tIns="0" rIns="0" bIns="0" rtlCol="0" anchor="ctr"/>
          <a:lstStyle/>
          <a:p>
            <a:pPr indent="0" marL="0">
              <a:buNone/>
            </a:pPr>
            <a:r>
              <a:rPr lang="en-US" sz="900" b="1" spc="100" kern="0" dirty="0">
                <a:solidFill>
                  <a:srgbClr val="2E7D5B"/>
                </a:solidFill>
                <a:latin typeface="Calibri" pitchFamily="34" charset="0"/>
                <a:ea typeface="Calibri" pitchFamily="34" charset="-122"/>
                <a:cs typeface="Calibri" pitchFamily="34" charset="-120"/>
              </a:rPr>
              <a:t>OCT 2 TO 13</a:t>
            </a:r>
            <a:endParaRPr lang="en-US" sz="900" dirty="0"/>
          </a:p>
        </p:txBody>
      </p:sp>
      <p:sp>
        <p:nvSpPr>
          <p:cNvPr id="62" name="Text 54"/>
          <p:cNvSpPr txBox="1"/>
          <p:nvPr/>
        </p:nvSpPr>
        <p:spPr>
          <a:xfrm>
            <a:off x="8160106" y="2825496"/>
            <a:ext cx="1600200" cy="256032"/>
          </a:xfrm>
          <a:prstGeom prst="rect">
            <a:avLst/>
          </a:prstGeom>
          <a:noFill/>
          <a:ln/>
        </p:spPr>
        <p:txBody>
          <a:bodyPr wrap="square" lIns="0" tIns="0" rIns="0" bIns="0" rtlCol="0" anchor="ctr"/>
          <a:lstStyle/>
          <a:p>
            <a:pPr indent="0" marL="0">
              <a:buNone/>
            </a:pPr>
            <a:r>
              <a:rPr lang="en-US" sz="1350" b="1" dirty="0">
                <a:solidFill>
                  <a:srgbClr val="17221E"/>
                </a:solidFill>
                <a:latin typeface="Calibri" pitchFamily="34" charset="0"/>
                <a:ea typeface="Calibri" pitchFamily="34" charset="-122"/>
                <a:cs typeface="Calibri" pitchFamily="34" charset="-120"/>
              </a:rPr>
              <a:t>Make it store-ready</a:t>
            </a:r>
            <a:endParaRPr lang="en-US" sz="1350" dirty="0"/>
          </a:p>
        </p:txBody>
      </p:sp>
      <p:sp>
        <p:nvSpPr>
          <p:cNvPr id="63" name="Shape 55"/>
          <p:cNvSpPr/>
          <p:nvPr/>
        </p:nvSpPr>
        <p:spPr>
          <a:xfrm>
            <a:off x="8141818" y="3127248"/>
            <a:ext cx="1636776" cy="713232"/>
          </a:xfrm>
          <a:prstGeom prst="roundRect">
            <a:avLst>
              <a:gd name="adj" fmla="val 6410"/>
            </a:avLst>
          </a:prstGeom>
          <a:solidFill>
            <a:srgbClr val="EAF3EF"/>
          </a:solidFill>
          <a:ln w="12700">
            <a:solidFill>
              <a:srgbClr val="EAF3EF"/>
            </a:solidFill>
            <a:prstDash val="solid"/>
          </a:ln>
        </p:spPr>
      </p:sp>
      <p:sp>
        <p:nvSpPr>
          <p:cNvPr id="64" name="Shape 56"/>
          <p:cNvSpPr/>
          <p:nvPr/>
        </p:nvSpPr>
        <p:spPr>
          <a:xfrm>
            <a:off x="8141818" y="3127248"/>
            <a:ext cx="41148" cy="713232"/>
          </a:xfrm>
          <a:prstGeom prst="rect">
            <a:avLst/>
          </a:prstGeom>
          <a:solidFill>
            <a:srgbClr val="2E7D5B"/>
          </a:solidFill>
          <a:ln w="12700">
            <a:solidFill>
              <a:srgbClr val="2E7D5B"/>
            </a:solidFill>
            <a:prstDash val="solid"/>
          </a:ln>
        </p:spPr>
      </p:sp>
      <p:sp>
        <p:nvSpPr>
          <p:cNvPr id="65" name="Text 57"/>
          <p:cNvSpPr txBox="1"/>
          <p:nvPr/>
        </p:nvSpPr>
        <p:spPr>
          <a:xfrm>
            <a:off x="8233258" y="3145536"/>
            <a:ext cx="1508760" cy="676656"/>
          </a:xfrm>
          <a:prstGeom prst="rect">
            <a:avLst/>
          </a:prstGeom>
          <a:noFill/>
          <a:ln/>
        </p:spPr>
        <p:txBody>
          <a:bodyPr wrap="square" lIns="0" tIns="0" rIns="0" bIns="0" rtlCol="0" anchor="t"/>
          <a:lstStyle/>
          <a:p>
            <a:pPr indent="0" marL="0">
              <a:buNone/>
            </a:pPr>
            <a:r>
              <a:rPr lang="en-US" sz="700" b="1" dirty="0">
                <a:solidFill>
                  <a:srgbClr val="2E7D5B"/>
                </a:solidFill>
                <a:latin typeface="Calibri" pitchFamily="34" charset="0"/>
                <a:ea typeface="Calibri" pitchFamily="34" charset="-122"/>
                <a:cs typeface="Calibri" pitchFamily="34" charset="-120"/>
              </a:rPr>
              <a:t>WE ASKED</a:t>
            </a:r>
            <a:endParaRPr lang="en-US" sz="700" dirty="0"/>
          </a:p>
          <a:p>
            <a:pPr indent="0" marL="0">
              <a:buNone/>
            </a:pPr>
            <a:r>
              <a:rPr lang="en-US" sz="1000" i="1" dirty="0">
                <a:solidFill>
                  <a:srgbClr val="17221E"/>
                </a:solidFill>
                <a:latin typeface="Calibri" pitchFamily="34" charset="0"/>
                <a:ea typeface="Calibri" pitchFamily="34" charset="-122"/>
                <a:cs typeface="Calibri" pitchFamily="34" charset="-120"/>
              </a:rPr>
              <a:t>“Add an icon, a privacy policy and store screenshots.”</a:t>
            </a:r>
            <a:endParaRPr lang="en-US" sz="700" dirty="0"/>
          </a:p>
        </p:txBody>
      </p:sp>
      <p:sp>
        <p:nvSpPr>
          <p:cNvPr id="66" name="Text 58"/>
          <p:cNvSpPr txBox="1"/>
          <p:nvPr/>
        </p:nvSpPr>
        <p:spPr>
          <a:xfrm>
            <a:off x="8160106" y="3895344"/>
            <a:ext cx="1600200" cy="713232"/>
          </a:xfrm>
          <a:prstGeom prst="rect">
            <a:avLst/>
          </a:prstGeom>
          <a:noFill/>
          <a:ln/>
        </p:spPr>
        <p:txBody>
          <a:bodyPr wrap="square" lIns="0" tIns="0" rIns="0" bIns="0" rtlCol="0" anchor="t"/>
          <a:lstStyle/>
          <a:p>
            <a:pPr indent="0" marL="0">
              <a:buNone/>
            </a:pPr>
            <a:r>
              <a:rPr lang="en-US" sz="700" b="1" dirty="0">
                <a:solidFill>
                  <a:srgbClr val="3B6FB6"/>
                </a:solidFill>
                <a:latin typeface="Calibri" pitchFamily="34" charset="0"/>
                <a:ea typeface="Calibri" pitchFamily="34" charset="-122"/>
                <a:cs typeface="Calibri" pitchFamily="34" charset="-120"/>
              </a:rPr>
              <a:t>WE GOT</a:t>
            </a:r>
            <a:endParaRPr lang="en-US" sz="700" dirty="0"/>
          </a:p>
          <a:p>
            <a:pPr indent="0" marL="0">
              <a:buNone/>
            </a:pPr>
            <a:r>
              <a:rPr lang="en-US" sz="1000" dirty="0">
                <a:solidFill>
                  <a:srgbClr val="17221E"/>
                </a:solidFill>
                <a:latin typeface="Calibri" pitchFamily="34" charset="0"/>
                <a:ea typeface="Calibri" pitchFamily="34" charset="-122"/>
                <a:cs typeface="Calibri" pitchFamily="34" charset="-120"/>
              </a:rPr>
              <a:t>App Store approval on Oct 13 and a public iPhone app.</a:t>
            </a:r>
            <a:endParaRPr lang="en-US" sz="700" dirty="0"/>
          </a:p>
        </p:txBody>
      </p:sp>
      <p:sp>
        <p:nvSpPr>
          <p:cNvPr id="67" name="Text 59"/>
          <p:cNvSpPr txBox="1"/>
          <p:nvPr/>
        </p:nvSpPr>
        <p:spPr>
          <a:xfrm>
            <a:off x="9851746" y="1810512"/>
            <a:ext cx="128016" cy="182880"/>
          </a:xfrm>
          <a:prstGeom prst="rect">
            <a:avLst/>
          </a:prstGeom>
          <a:noFill/>
          <a:ln/>
        </p:spPr>
        <p:txBody>
          <a:bodyPr wrap="square" lIns="0" tIns="0" rIns="0" bIns="0" rtlCol="0" anchor="ctr"/>
          <a:lstStyle/>
          <a:p>
            <a:pPr algn="ctr" indent="0" marL="0">
              <a:buNone/>
            </a:pPr>
            <a:r>
              <a:rPr lang="en-US" sz="1000" dirty="0">
                <a:solidFill>
                  <a:srgbClr val="2E7D5B"/>
                </a:solidFill>
                <a:latin typeface="Arial" pitchFamily="34" charset="0"/>
                <a:ea typeface="Arial" pitchFamily="34" charset="-122"/>
                <a:cs typeface="Arial" pitchFamily="34" charset="-120"/>
              </a:rPr>
              <a:t>▶</a:t>
            </a:r>
            <a:endParaRPr lang="en-US" sz="1000" dirty="0"/>
          </a:p>
        </p:txBody>
      </p:sp>
      <p:sp>
        <p:nvSpPr>
          <p:cNvPr id="68" name="Shape 60"/>
          <p:cNvSpPr/>
          <p:nvPr/>
        </p:nvSpPr>
        <p:spPr>
          <a:xfrm>
            <a:off x="9961474" y="1097280"/>
            <a:ext cx="1819656" cy="3529584"/>
          </a:xfrm>
          <a:prstGeom prst="roundRect">
            <a:avLst>
              <a:gd name="adj" fmla="val 6030"/>
            </a:avLst>
          </a:prstGeom>
          <a:solidFill>
            <a:srgbClr val="FFFFFF"/>
          </a:solidFill>
          <a:ln w="12700">
            <a:solidFill>
              <a:srgbClr val="DBE6E0"/>
            </a:solidFill>
            <a:prstDash val="solid"/>
          </a:ln>
        </p:spPr>
      </p:sp>
      <p:pic>
        <p:nvPicPr>
          <p:cNvPr id="69" name="Image 6" descr="Daily downloads, WHO 13 flagged">    </p:cNvPr>
          <p:cNvPicPr>
            <a:picLocks noChangeAspect="1"/>
          </p:cNvPicPr>
          <p:nvPr/>
        </p:nvPicPr>
        <p:blipFill>
          <a:blip r:embed="rId9"/>
          <a:stretch>
            <a:fillRect/>
          </a:stretch>
        </p:blipFill>
        <p:spPr>
          <a:xfrm>
            <a:off x="9979762" y="1115568"/>
            <a:ext cx="1783080" cy="1481328"/>
          </a:xfrm>
          <a:prstGeom prst="rect">
            <a:avLst/>
          </a:prstGeom>
        </p:spPr>
      </p:pic>
      <p:sp>
        <p:nvSpPr>
          <p:cNvPr id="70" name="Text 61"/>
          <p:cNvSpPr txBox="1"/>
          <p:nvPr/>
        </p:nvSpPr>
        <p:spPr>
          <a:xfrm>
            <a:off x="10034626" y="2322576"/>
            <a:ext cx="1673352" cy="201168"/>
          </a:xfrm>
          <a:prstGeom prst="rect">
            <a:avLst/>
          </a:prstGeom>
          <a:solidFill>
            <a:srgbClr val="17382B">
              <a:alpha val="88000"/>
            </a:srgbClr>
          </a:solidFill>
          <a:ln/>
        </p:spPr>
        <p:txBody>
          <a:bodyPr wrap="square" lIns="0" tIns="50800" rIns="5080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Daily downloads, WHO 13 flagged</a:t>
            </a:r>
            <a:endParaRPr lang="en-US" sz="800" dirty="0"/>
          </a:p>
        </p:txBody>
      </p:sp>
      <p:sp>
        <p:nvSpPr>
          <p:cNvPr id="71" name="Shape 62"/>
          <p:cNvSpPr/>
          <p:nvPr/>
        </p:nvSpPr>
        <p:spPr>
          <a:xfrm>
            <a:off x="10052914" y="987552"/>
            <a:ext cx="228600" cy="228600"/>
          </a:xfrm>
          <a:prstGeom prst="ellipse">
            <a:avLst/>
          </a:prstGeom>
          <a:solidFill>
            <a:srgbClr val="2E7D5B"/>
          </a:solidFill>
          <a:ln w="12700">
            <a:solidFill>
              <a:srgbClr val="2E7D5B"/>
            </a:solidFill>
            <a:prstDash val="solid"/>
          </a:ln>
        </p:spPr>
      </p:sp>
      <p:sp>
        <p:nvSpPr>
          <p:cNvPr id="72" name="Text 63"/>
          <p:cNvSpPr txBox="1"/>
          <p:nvPr/>
        </p:nvSpPr>
        <p:spPr>
          <a:xfrm>
            <a:off x="10052914" y="987552"/>
            <a:ext cx="22860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73" name="Text 64"/>
          <p:cNvSpPr txBox="1"/>
          <p:nvPr/>
        </p:nvSpPr>
        <p:spPr>
          <a:xfrm>
            <a:off x="10071202" y="2642616"/>
            <a:ext cx="1600200" cy="182880"/>
          </a:xfrm>
          <a:prstGeom prst="rect">
            <a:avLst/>
          </a:prstGeom>
          <a:noFill/>
          <a:ln/>
        </p:spPr>
        <p:txBody>
          <a:bodyPr wrap="square" lIns="0" tIns="0" rIns="0" bIns="0" rtlCol="0" anchor="ctr"/>
          <a:lstStyle/>
          <a:p>
            <a:pPr indent="0" marL="0">
              <a:buNone/>
            </a:pPr>
            <a:r>
              <a:rPr lang="en-US" sz="900" b="1" spc="100" kern="0" dirty="0">
                <a:solidFill>
                  <a:srgbClr val="2E7D5B"/>
                </a:solidFill>
                <a:latin typeface="Calibri" pitchFamily="34" charset="0"/>
                <a:ea typeface="Calibri" pitchFamily="34" charset="-122"/>
                <a:cs typeface="Calibri" pitchFamily="34" charset="-120"/>
              </a:rPr>
              <a:t>OCT 21 ONWARD</a:t>
            </a:r>
            <a:endParaRPr lang="en-US" sz="900" dirty="0"/>
          </a:p>
        </p:txBody>
      </p:sp>
      <p:sp>
        <p:nvSpPr>
          <p:cNvPr id="74" name="Text 65"/>
          <p:cNvSpPr txBox="1"/>
          <p:nvPr/>
        </p:nvSpPr>
        <p:spPr>
          <a:xfrm>
            <a:off x="10071202" y="2825496"/>
            <a:ext cx="1600200" cy="256032"/>
          </a:xfrm>
          <a:prstGeom prst="rect">
            <a:avLst/>
          </a:prstGeom>
          <a:noFill/>
          <a:ln/>
        </p:spPr>
        <p:txBody>
          <a:bodyPr wrap="square" lIns="0" tIns="0" rIns="0" bIns="0" rtlCol="0" anchor="ctr"/>
          <a:lstStyle/>
          <a:p>
            <a:pPr indent="0" marL="0">
              <a:buNone/>
            </a:pPr>
            <a:r>
              <a:rPr lang="en-US" sz="1350" b="1" dirty="0">
                <a:solidFill>
                  <a:srgbClr val="17221E"/>
                </a:solidFill>
                <a:latin typeface="Calibri" pitchFamily="34" charset="0"/>
                <a:ea typeface="Calibri" pitchFamily="34" charset="-122"/>
                <a:cs typeface="Calibri" pitchFamily="34" charset="-120"/>
              </a:rPr>
              <a:t>Keep it true</a:t>
            </a:r>
            <a:endParaRPr lang="en-US" sz="1350" dirty="0"/>
          </a:p>
        </p:txBody>
      </p:sp>
      <p:sp>
        <p:nvSpPr>
          <p:cNvPr id="75" name="Shape 66"/>
          <p:cNvSpPr/>
          <p:nvPr/>
        </p:nvSpPr>
        <p:spPr>
          <a:xfrm>
            <a:off x="10052914" y="3127248"/>
            <a:ext cx="1636776" cy="713232"/>
          </a:xfrm>
          <a:prstGeom prst="roundRect">
            <a:avLst>
              <a:gd name="adj" fmla="val 6410"/>
            </a:avLst>
          </a:prstGeom>
          <a:solidFill>
            <a:srgbClr val="EAF3EF"/>
          </a:solidFill>
          <a:ln w="12700">
            <a:solidFill>
              <a:srgbClr val="EAF3EF"/>
            </a:solidFill>
            <a:prstDash val="solid"/>
          </a:ln>
        </p:spPr>
      </p:sp>
      <p:sp>
        <p:nvSpPr>
          <p:cNvPr id="76" name="Shape 67"/>
          <p:cNvSpPr/>
          <p:nvPr/>
        </p:nvSpPr>
        <p:spPr>
          <a:xfrm>
            <a:off x="10052914" y="3127248"/>
            <a:ext cx="41148" cy="713232"/>
          </a:xfrm>
          <a:prstGeom prst="rect">
            <a:avLst/>
          </a:prstGeom>
          <a:solidFill>
            <a:srgbClr val="2E7D5B"/>
          </a:solidFill>
          <a:ln w="12700">
            <a:solidFill>
              <a:srgbClr val="2E7D5B"/>
            </a:solidFill>
            <a:prstDash val="solid"/>
          </a:ln>
        </p:spPr>
      </p:sp>
      <p:sp>
        <p:nvSpPr>
          <p:cNvPr id="77" name="Text 68"/>
          <p:cNvSpPr txBox="1"/>
          <p:nvPr/>
        </p:nvSpPr>
        <p:spPr>
          <a:xfrm>
            <a:off x="10144354" y="3145536"/>
            <a:ext cx="1508760" cy="676656"/>
          </a:xfrm>
          <a:prstGeom prst="rect">
            <a:avLst/>
          </a:prstGeom>
          <a:noFill/>
          <a:ln/>
        </p:spPr>
        <p:txBody>
          <a:bodyPr wrap="square" lIns="0" tIns="0" rIns="0" bIns="0" rtlCol="0" anchor="t"/>
          <a:lstStyle/>
          <a:p>
            <a:pPr indent="0" marL="0">
              <a:buNone/>
            </a:pPr>
            <a:r>
              <a:rPr lang="en-US" sz="700" b="1" dirty="0">
                <a:solidFill>
                  <a:srgbClr val="2E7D5B"/>
                </a:solidFill>
                <a:latin typeface="Calibri" pitchFamily="34" charset="0"/>
                <a:ea typeface="Calibri" pitchFamily="34" charset="-122"/>
                <a:cs typeface="Calibri" pitchFamily="34" charset="-120"/>
              </a:rPr>
              <a:t>WE ASKED</a:t>
            </a:r>
            <a:endParaRPr lang="en-US" sz="700" dirty="0"/>
          </a:p>
          <a:p>
            <a:pPr indent="0" marL="0">
              <a:buNone/>
            </a:pPr>
            <a:r>
              <a:rPr lang="en-US" sz="1000" i="1" dirty="0">
                <a:solidFill>
                  <a:srgbClr val="17221E"/>
                </a:solidFill>
                <a:latin typeface="Calibri" pitchFamily="34" charset="0"/>
                <a:ea typeface="Calibri" pitchFamily="34" charset="-122"/>
                <a:cs typeface="Calibri" pitchFamily="34" charset="-120"/>
              </a:rPr>
              <a:t>“Keep it accurate and show how it is doing.”</a:t>
            </a:r>
            <a:endParaRPr lang="en-US" sz="700" dirty="0"/>
          </a:p>
        </p:txBody>
      </p:sp>
      <p:sp>
        <p:nvSpPr>
          <p:cNvPr id="78" name="Text 69"/>
          <p:cNvSpPr txBox="1"/>
          <p:nvPr/>
        </p:nvSpPr>
        <p:spPr>
          <a:xfrm>
            <a:off x="10071202" y="3895344"/>
            <a:ext cx="1600200" cy="713232"/>
          </a:xfrm>
          <a:prstGeom prst="rect">
            <a:avLst/>
          </a:prstGeom>
          <a:noFill/>
          <a:ln/>
        </p:spPr>
        <p:txBody>
          <a:bodyPr wrap="square" lIns="0" tIns="0" rIns="0" bIns="0" rtlCol="0" anchor="t"/>
          <a:lstStyle/>
          <a:p>
            <a:pPr indent="0" marL="0">
              <a:buNone/>
            </a:pPr>
            <a:r>
              <a:rPr lang="en-US" sz="700" b="1" dirty="0">
                <a:solidFill>
                  <a:srgbClr val="3B6FB6"/>
                </a:solidFill>
                <a:latin typeface="Calibri" pitchFamily="34" charset="0"/>
                <a:ea typeface="Calibri" pitchFamily="34" charset="-122"/>
                <a:cs typeface="Calibri" pitchFamily="34" charset="-120"/>
              </a:rPr>
              <a:t>WE GOT</a:t>
            </a:r>
            <a:endParaRPr lang="en-US" sz="700" dirty="0"/>
          </a:p>
          <a:p>
            <a:pPr indent="0" marL="0">
              <a:buNone/>
            </a:pPr>
            <a:r>
              <a:rPr lang="en-US" sz="1000" dirty="0">
                <a:solidFill>
                  <a:srgbClr val="17221E"/>
                </a:solidFill>
                <a:latin typeface="Calibri" pitchFamily="34" charset="0"/>
                <a:ea typeface="Calibri" pitchFamily="34" charset="-122"/>
                <a:cs typeface="Calibri" pitchFamily="34" charset="-120"/>
              </a:rPr>
              <a:t>WHO 13 News featured the app on Oct 21, and drivers keep downloading it.</a:t>
            </a:r>
            <a:endParaRPr lang="en-US" sz="700" dirty="0"/>
          </a:p>
        </p:txBody>
      </p:sp>
      <p:sp>
        <p:nvSpPr>
          <p:cNvPr id="79" name="Shape 70"/>
          <p:cNvSpPr/>
          <p:nvPr/>
        </p:nvSpPr>
        <p:spPr>
          <a:xfrm>
            <a:off x="405994" y="4828032"/>
            <a:ext cx="11384280" cy="1554480"/>
          </a:xfrm>
          <a:prstGeom prst="roundRect">
            <a:avLst>
              <a:gd name="adj" fmla="val 8824"/>
            </a:avLst>
          </a:prstGeom>
          <a:solidFill>
            <a:srgbClr val="17382B"/>
          </a:solidFill>
          <a:ln w="12700">
            <a:solidFill>
              <a:srgbClr val="17382B"/>
            </a:solidFill>
            <a:prstDash val="solid"/>
          </a:ln>
        </p:spPr>
      </p:sp>
      <p:sp>
        <p:nvSpPr>
          <p:cNvPr id="80" name="Text 71"/>
          <p:cNvSpPr txBox="1"/>
          <p:nvPr/>
        </p:nvSpPr>
        <p:spPr>
          <a:xfrm>
            <a:off x="566928" y="4882896"/>
            <a:ext cx="868680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Four prompt-engineering lessons from our journey</a:t>
            </a:r>
            <a:endParaRPr lang="en-US" sz="1600" dirty="0"/>
          </a:p>
        </p:txBody>
      </p:sp>
      <p:sp>
        <p:nvSpPr>
          <p:cNvPr id="81" name="Shape 72"/>
          <p:cNvSpPr/>
          <p:nvPr/>
        </p:nvSpPr>
        <p:spPr>
          <a:xfrm>
            <a:off x="566928" y="5248656"/>
            <a:ext cx="2258568" cy="1024128"/>
          </a:xfrm>
          <a:prstGeom prst="roundRect">
            <a:avLst>
              <a:gd name="adj" fmla="val 6250"/>
            </a:avLst>
          </a:prstGeom>
          <a:solidFill>
            <a:srgbClr val="FFFFFF">
              <a:alpha val="9000"/>
            </a:srgbClr>
          </a:solidFill>
          <a:ln w="6350">
            <a:solidFill>
              <a:srgbClr val="2D5444"/>
            </a:solidFill>
            <a:prstDash val="solid"/>
          </a:ln>
        </p:spPr>
      </p:sp>
      <p:sp>
        <p:nvSpPr>
          <p:cNvPr id="82" name="Text 73"/>
          <p:cNvSpPr txBox="1"/>
          <p:nvPr/>
        </p:nvSpPr>
        <p:spPr>
          <a:xfrm>
            <a:off x="658368" y="5303520"/>
            <a:ext cx="2075688" cy="914400"/>
          </a:xfrm>
          <a:prstGeom prst="rect">
            <a:avLst/>
          </a:prstGeom>
          <a:noFill/>
          <a:ln/>
        </p:spPr>
        <p:txBody>
          <a:bodyPr wrap="square" lIns="0" tIns="0" rIns="0" bIns="0" rtlCol="0" anchor="t"/>
          <a:lstStyle/>
          <a:p>
            <a:pPr indent="0" marL="0">
              <a:buNone/>
            </a:pPr>
            <a:r>
              <a:rPr lang="en-US" sz="1200" b="1" dirty="0">
                <a:solidFill>
                  <a:srgbClr val="9FE0BF"/>
                </a:solidFill>
                <a:latin typeface="Calibri" pitchFamily="34" charset="0"/>
                <a:ea typeface="Calibri" pitchFamily="34" charset="-122"/>
                <a:cs typeface="Calibri" pitchFamily="34" charset="-120"/>
              </a:rPr>
              <a:t>1. Start rough, then refine</a:t>
            </a:r>
            <a:endParaRPr lang="en-US" sz="1200" dirty="0"/>
          </a:p>
          <a:p>
            <a:pPr indent="0" marL="0">
              <a:buNone/>
            </a:pPr>
            <a:r>
              <a:rPr lang="en-US" sz="1050" dirty="0">
                <a:solidFill>
                  <a:srgbClr val="FFFFFF"/>
                </a:solidFill>
                <a:latin typeface="Calibri" pitchFamily="34" charset="0"/>
                <a:ea typeface="Calibri" pitchFamily="34" charset="-122"/>
                <a:cs typeface="Calibri" pitchFamily="34" charset="-120"/>
              </a:rPr>
              <a:t>One change per prompt. Each answer shows what to ask next.</a:t>
            </a:r>
            <a:endParaRPr lang="en-US" sz="1200" dirty="0"/>
          </a:p>
        </p:txBody>
      </p:sp>
      <p:sp>
        <p:nvSpPr>
          <p:cNvPr id="83" name="Shape 74"/>
          <p:cNvSpPr/>
          <p:nvPr/>
        </p:nvSpPr>
        <p:spPr>
          <a:xfrm>
            <a:off x="2898648" y="5248656"/>
            <a:ext cx="2258568" cy="1024128"/>
          </a:xfrm>
          <a:prstGeom prst="roundRect">
            <a:avLst>
              <a:gd name="adj" fmla="val 6250"/>
            </a:avLst>
          </a:prstGeom>
          <a:solidFill>
            <a:srgbClr val="FFFFFF">
              <a:alpha val="9000"/>
            </a:srgbClr>
          </a:solidFill>
          <a:ln w="6350">
            <a:solidFill>
              <a:srgbClr val="2D5444"/>
            </a:solidFill>
            <a:prstDash val="solid"/>
          </a:ln>
        </p:spPr>
      </p:sp>
      <p:sp>
        <p:nvSpPr>
          <p:cNvPr id="84" name="Text 75"/>
          <p:cNvSpPr txBox="1"/>
          <p:nvPr/>
        </p:nvSpPr>
        <p:spPr>
          <a:xfrm>
            <a:off x="2990088" y="5303520"/>
            <a:ext cx="2075688" cy="914400"/>
          </a:xfrm>
          <a:prstGeom prst="rect">
            <a:avLst/>
          </a:prstGeom>
          <a:noFill/>
          <a:ln/>
        </p:spPr>
        <p:txBody>
          <a:bodyPr wrap="square" lIns="0" tIns="0" rIns="0" bIns="0" rtlCol="0" anchor="t"/>
          <a:lstStyle/>
          <a:p>
            <a:pPr indent="0" marL="0">
              <a:buNone/>
            </a:pPr>
            <a:r>
              <a:rPr lang="en-US" sz="1200" b="1" dirty="0">
                <a:solidFill>
                  <a:srgbClr val="9FE0BF"/>
                </a:solidFill>
                <a:latin typeface="Calibri" pitchFamily="34" charset="0"/>
                <a:ea typeface="Calibri" pitchFamily="34" charset="-122"/>
                <a:cs typeface="Calibri" pitchFamily="34" charset="-120"/>
              </a:rPr>
              <a:t>2. Give context and limits</a:t>
            </a:r>
            <a:endParaRPr lang="en-US" sz="1200" dirty="0"/>
          </a:p>
          <a:p>
            <a:pPr indent="0" marL="0">
              <a:buNone/>
            </a:pPr>
            <a:r>
              <a:rPr lang="en-US" sz="1050" dirty="0">
                <a:solidFill>
                  <a:srgbClr val="FFFFFF"/>
                </a:solidFill>
                <a:latin typeface="Calibri" pitchFamily="34" charset="0"/>
                <a:ea typeface="Calibri" pitchFamily="34" charset="-122"/>
                <a:cs typeface="Calibri" pitchFamily="34" charset="-120"/>
              </a:rPr>
              <a:t>Who it is for, what data to use, and what we must not claim.</a:t>
            </a:r>
            <a:endParaRPr lang="en-US" sz="1200" dirty="0"/>
          </a:p>
        </p:txBody>
      </p:sp>
      <p:sp>
        <p:nvSpPr>
          <p:cNvPr id="85" name="Shape 76"/>
          <p:cNvSpPr/>
          <p:nvPr/>
        </p:nvSpPr>
        <p:spPr>
          <a:xfrm>
            <a:off x="5230368" y="5248656"/>
            <a:ext cx="2258568" cy="1024128"/>
          </a:xfrm>
          <a:prstGeom prst="roundRect">
            <a:avLst>
              <a:gd name="adj" fmla="val 6250"/>
            </a:avLst>
          </a:prstGeom>
          <a:solidFill>
            <a:srgbClr val="FFFFFF">
              <a:alpha val="9000"/>
            </a:srgbClr>
          </a:solidFill>
          <a:ln w="6350">
            <a:solidFill>
              <a:srgbClr val="2D5444"/>
            </a:solidFill>
            <a:prstDash val="solid"/>
          </a:ln>
        </p:spPr>
      </p:sp>
      <p:sp>
        <p:nvSpPr>
          <p:cNvPr id="86" name="Text 77"/>
          <p:cNvSpPr txBox="1"/>
          <p:nvPr/>
        </p:nvSpPr>
        <p:spPr>
          <a:xfrm>
            <a:off x="5321808" y="5303520"/>
            <a:ext cx="2075688" cy="914400"/>
          </a:xfrm>
          <a:prstGeom prst="rect">
            <a:avLst/>
          </a:prstGeom>
          <a:noFill/>
          <a:ln/>
        </p:spPr>
        <p:txBody>
          <a:bodyPr wrap="square" lIns="0" tIns="0" rIns="0" bIns="0" rtlCol="0" anchor="t"/>
          <a:lstStyle/>
          <a:p>
            <a:pPr indent="0" marL="0">
              <a:buNone/>
            </a:pPr>
            <a:r>
              <a:rPr lang="en-US" sz="1200" b="1" dirty="0">
                <a:solidFill>
                  <a:srgbClr val="9FE0BF"/>
                </a:solidFill>
                <a:latin typeface="Calibri" pitchFamily="34" charset="0"/>
                <a:ea typeface="Calibri" pitchFamily="34" charset="-122"/>
                <a:cs typeface="Calibri" pitchFamily="34" charset="-120"/>
              </a:rPr>
              <a:t>3. Test with real people</a:t>
            </a:r>
            <a:endParaRPr lang="en-US" sz="1200" dirty="0"/>
          </a:p>
          <a:p>
            <a:pPr indent="0" marL="0">
              <a:buNone/>
            </a:pPr>
            <a:r>
              <a:rPr lang="en-US" sz="1050" dirty="0">
                <a:solidFill>
                  <a:srgbClr val="FFFFFF"/>
                </a:solidFill>
                <a:latin typeface="Calibri" pitchFamily="34" charset="0"/>
                <a:ea typeface="Calibri" pitchFamily="34" charset="-122"/>
                <a:cs typeface="Calibri" pitchFamily="34" charset="-120"/>
              </a:rPr>
              <a:t>Testers asked for an on/off switch and a test alert, so we added them.</a:t>
            </a:r>
            <a:endParaRPr lang="en-US" sz="1200" dirty="0"/>
          </a:p>
        </p:txBody>
      </p:sp>
      <p:sp>
        <p:nvSpPr>
          <p:cNvPr id="87" name="Shape 78"/>
          <p:cNvSpPr/>
          <p:nvPr/>
        </p:nvSpPr>
        <p:spPr>
          <a:xfrm>
            <a:off x="7562088" y="5248656"/>
            <a:ext cx="2258568" cy="1024128"/>
          </a:xfrm>
          <a:prstGeom prst="roundRect">
            <a:avLst>
              <a:gd name="adj" fmla="val 6250"/>
            </a:avLst>
          </a:prstGeom>
          <a:solidFill>
            <a:srgbClr val="FFFFFF">
              <a:alpha val="9000"/>
            </a:srgbClr>
          </a:solidFill>
          <a:ln w="6350">
            <a:solidFill>
              <a:srgbClr val="2D5444"/>
            </a:solidFill>
            <a:prstDash val="solid"/>
          </a:ln>
        </p:spPr>
      </p:sp>
      <p:sp>
        <p:nvSpPr>
          <p:cNvPr id="88" name="Text 79"/>
          <p:cNvSpPr txBox="1"/>
          <p:nvPr/>
        </p:nvSpPr>
        <p:spPr>
          <a:xfrm>
            <a:off x="7653528" y="5303520"/>
            <a:ext cx="2075688" cy="914400"/>
          </a:xfrm>
          <a:prstGeom prst="rect">
            <a:avLst/>
          </a:prstGeom>
          <a:noFill/>
          <a:ln/>
        </p:spPr>
        <p:txBody>
          <a:bodyPr wrap="square" lIns="0" tIns="0" rIns="0" bIns="0" rtlCol="0" anchor="t"/>
          <a:lstStyle/>
          <a:p>
            <a:pPr indent="0" marL="0">
              <a:buNone/>
            </a:pPr>
            <a:r>
              <a:rPr lang="en-US" sz="1200" b="1" dirty="0">
                <a:solidFill>
                  <a:srgbClr val="9FE0BF"/>
                </a:solidFill>
                <a:latin typeface="Calibri" pitchFamily="34" charset="0"/>
                <a:ea typeface="Calibri" pitchFamily="34" charset="-122"/>
                <a:cs typeface="Calibri" pitchFamily="34" charset="-120"/>
              </a:rPr>
              <a:t>4. Check the AI’s work</a:t>
            </a:r>
            <a:endParaRPr lang="en-US" sz="1200" dirty="0"/>
          </a:p>
          <a:p>
            <a:pPr indent="0" marL="0">
              <a:buNone/>
            </a:pPr>
            <a:r>
              <a:rPr lang="en-US" sz="1050" dirty="0">
                <a:solidFill>
                  <a:srgbClr val="FFFFFF"/>
                </a:solidFill>
                <a:latin typeface="Calibri" pitchFamily="34" charset="0"/>
                <a:ea typeface="Calibri" pitchFamily="34" charset="-122"/>
                <a:cs typeface="Calibri" pitchFamily="34" charset="-120"/>
              </a:rPr>
              <a:t>We found 152 repeated crash records and 22 phantom corridors, then asked for fixes.</a:t>
            </a:r>
            <a:endParaRPr lang="en-US" sz="1200" dirty="0"/>
          </a:p>
        </p:txBody>
      </p:sp>
      <p:sp>
        <p:nvSpPr>
          <p:cNvPr id="89" name="Shape 80"/>
          <p:cNvSpPr/>
          <p:nvPr/>
        </p:nvSpPr>
        <p:spPr>
          <a:xfrm>
            <a:off x="10040112" y="4901184"/>
            <a:ext cx="1664208" cy="1408176"/>
          </a:xfrm>
          <a:prstGeom prst="roundRect">
            <a:avLst>
              <a:gd name="adj" fmla="val 5195"/>
            </a:avLst>
          </a:prstGeom>
          <a:solidFill>
            <a:srgbClr val="FFFFFF"/>
          </a:solidFill>
          <a:ln w="12700">
            <a:solidFill>
              <a:srgbClr val="FFFFFF"/>
            </a:solidFill>
            <a:prstDash val="solid"/>
          </a:ln>
        </p:spPr>
      </p:sp>
      <p:pic>
        <p:nvPicPr>
          <p:cNvPr id="90" name="Image 7" descr="QR code to the free iPhone app">
            <a:hlinkClick r:id="rId11" tooltip="Open the App Store page"/>
          </p:cNvPr>
          <p:cNvPicPr>
            <a:picLocks noChangeAspect="1"/>
          </p:cNvPicPr>
          <p:nvPr/>
        </p:nvPicPr>
        <p:blipFill>
          <a:blip r:embed="rId10"/>
          <a:stretch>
            <a:fillRect/>
          </a:stretch>
        </p:blipFill>
        <p:spPr>
          <a:xfrm>
            <a:off x="10241280" y="4937760"/>
            <a:ext cx="950976" cy="950976"/>
          </a:xfrm>
          <a:prstGeom prst="rect">
            <a:avLst/>
          </a:prstGeom>
        </p:spPr>
      </p:pic>
      <p:sp>
        <p:nvSpPr>
          <p:cNvPr id="91" name="Text 81"/>
          <p:cNvSpPr txBox="1"/>
          <p:nvPr/>
        </p:nvSpPr>
        <p:spPr>
          <a:xfrm>
            <a:off x="10058400" y="5888736"/>
            <a:ext cx="1627632" cy="384048"/>
          </a:xfrm>
          <a:prstGeom prst="rect">
            <a:avLst/>
          </a:prstGeom>
          <a:noFill/>
          <a:ln/>
        </p:spPr>
        <p:txBody>
          <a:bodyPr wrap="square" lIns="0" tIns="0" rIns="0" bIns="0" rtlCol="0" anchor="ctr"/>
          <a:lstStyle/>
          <a:p>
            <a:pPr algn="ctr" indent="0" marL="0">
              <a:buNone/>
            </a:pPr>
            <a:r>
              <a:rPr lang="en-US" sz="950" b="1" dirty="0">
                <a:solidFill>
                  <a:srgbClr val="17221E"/>
                </a:solidFill>
                <a:latin typeface="Calibri" pitchFamily="34" charset="0"/>
                <a:ea typeface="Calibri" pitchFamily="34" charset="-122"/>
                <a:cs typeface="Calibri" pitchFamily="34" charset="-120"/>
              </a:rPr>
              <a:t>Scan to get the free iPhone app</a:t>
            </a:r>
            <a:endParaRPr lang="en-US" sz="950" dirty="0"/>
          </a:p>
        </p:txBody>
      </p:sp>
      <p:sp>
        <p:nvSpPr>
          <p:cNvPr id="92" name="Text 82"/>
          <p:cNvSpPr txBox="1"/>
          <p:nvPr/>
        </p:nvSpPr>
        <p:spPr>
          <a:xfrm>
            <a:off x="9509760" y="6510528"/>
            <a:ext cx="2276856" cy="201168"/>
          </a:xfrm>
          <a:prstGeom prst="rect">
            <a:avLst/>
          </a:prstGeom>
          <a:noFill/>
          <a:ln/>
        </p:spPr>
        <p:txBody>
          <a:bodyPr wrap="square" lIns="0" tIns="0" rIns="0" bIns="0" rtlCol="0" anchor="ctr"/>
          <a:lstStyle/>
          <a:p>
            <a:pPr algn="r" indent="0" marL="0">
              <a:buNone/>
            </a:pPr>
            <a:r>
              <a:rPr lang="en-US" sz="850" dirty="0">
                <a:solidFill>
                  <a:srgbClr val="5B6B64"/>
                </a:solidFill>
                <a:latin typeface="Calibri" pitchFamily="34" charset="0"/>
                <a:ea typeface="Calibri" pitchFamily="34" charset="-122"/>
                <a:cs typeface="Calibri" pitchFamily="34" charset="-120"/>
              </a:rPr>
              <a:t>Data: Iowa DOT crash data</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rough idea to a live app: how prompting works</dc:title>
  <dc:subject>PptxGenJS Presentation</dc:subject>
  <dc:creator>The Blizzards #67350</dc:creator>
  <cp:lastModifiedBy>The Blizzards #67350</cp:lastModifiedBy>
  <cp:revision>1</cp:revision>
  <dcterms:created xsi:type="dcterms:W3CDTF">2026-10-30T15:19:05Z</dcterms:created>
  <dcterms:modified xsi:type="dcterms:W3CDTF">2026-10-30T15:19:05Z</dcterms:modified>
</cp:coreProperties>
</file>